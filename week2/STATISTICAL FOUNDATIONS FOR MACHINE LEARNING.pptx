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6BA0-1A39-5FDA-7178-3B43091C9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8AD12-7460-A097-7515-EE966B9C3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3FE2-D4CE-FAE4-1212-5F2DBB7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E072-FFA7-0B1E-F985-CB06C504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C0B9-87D6-EEA8-5125-1DF8BAFF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C449-22B8-F0B1-1331-0709B76B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1F1B-46E7-F4DC-3E64-6F6C044E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A757-F6D4-BC88-E70C-3BC50E51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792AE-1B7A-1BF3-7B69-174DBCE8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1B3B2-9C0D-BFF8-DCA9-4ACC8766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E4B9-EBBC-6719-1BAB-62AC020E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1511-E42E-83B1-2E25-0AAD0CB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C73F6-8F1C-CF16-2B27-D49147CE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6CA2-120E-A37D-FEFA-3B23E8E1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AB5F9-07EE-4C5B-6A2C-2AC15CB7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4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5637-CC55-B716-02C0-39743516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BB55-C971-E2C8-4774-ED330D07A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49454-8874-5D7D-E954-33F092552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3838-91C7-F7E4-6B79-F9441088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4E63-1C0E-2731-C2CC-2FE3F13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5D2E-05DC-0B55-3DA5-6D53BC7E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5118-E35D-7F29-2D74-5D784BBF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C3B9-88AC-7E5E-B0C0-A9BDC6B9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1F2D2-5030-EFB4-4C96-0D1C284F1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80E10-0B0B-8AB2-79B8-4C7708FF5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36B6F-8CC2-CAC2-E936-97FC03073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C1176-6C94-E91F-3379-724226A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20C13-DDB1-D2EA-2453-1AEE0578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203BE-8C1F-C2B5-5BA3-A9C5D5CD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5906-B453-A3EF-8A04-65DCAE2C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91FE0-CE89-380A-A7CD-B1CCDBDA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CB894-5CDB-7B8A-26AC-5FCEAA22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64FDC-94C6-B12A-3C75-5E4851AE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3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D70976-5EBE-34ED-C6A4-486BFE47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D4D7A-92A0-61AF-778C-F44E753B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8BD0-5B0C-DFBE-AA5E-6254B810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2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C4C-9D7E-E7A7-E87D-C5278426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CAB1-741D-4F90-0E74-CA1E15B85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70984-C603-9169-FA2F-3087B207B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C70CE-C6D9-232D-FA12-84F69863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EC259-CD08-83BB-BADF-D00C1969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D7B3-2A8A-B723-BCE4-A980274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8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25F7-6AA9-83E7-497D-36232019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466BB-4D67-7221-A388-2ACE16F00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C7BEB-67D3-B55D-9D3B-8657EC6CD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CCB62-C2FE-7C26-36B9-C301F57D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8DA9-8B16-57E7-7AC1-B9DCE1E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C2096-746E-7039-CCB1-F7A11F47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5FC9-E4AB-0F58-7B5A-42F64B73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45F39-C670-FC36-E093-270E69F2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7E87C-2900-52E4-1AD3-A1F05221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9E20-B19A-2E4D-6CF9-75ABE1D6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2B7D-465B-C949-D037-F3B7E464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336B5-E460-75D0-6929-A3840D4D3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8112-218B-6281-0BC3-D1F0B2DC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81DDF-9BC6-C9D2-FB49-393DE1D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6B4E-848F-667C-DE56-C13EDA62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9BA79-12DF-6B90-F34F-ACDD5A1E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A04B1-12B0-4C7A-5B67-8286FE57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467BB-7DF7-E11A-9C2E-E47BF99F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B5EA8-DBFF-3279-131D-25A1BD04A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65F43-E8BD-4DDE-960E-2394F033622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22388-CEF7-C1F5-BB99-E22444DD8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E593-6042-522A-EBE8-C49A76A76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648B3-FB30-40CF-8BDF-06265146F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7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F03A-98ED-6870-F0B6-4362AD15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69182"/>
            <a:ext cx="119634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STATISTICAL FOUNDATIONS FOR MACHINE LEARNING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E9CD-EE28-A2EB-55EA-4F4F0ACE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494744"/>
            <a:ext cx="11647714" cy="519407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i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and Regression Analysis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Course: Foundations of Data Analysis (Group A)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Trainer: Victor Lumumba Wandera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Date: 5</a:t>
            </a:r>
            <a:r>
              <a:rPr lang="en-US" kern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February 2026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 Hypertension Clinical Cohort (htn_dat.csv)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i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Foundations of Data Analysis – Group A</a:t>
            </a:r>
            <a:b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Bridge Module to Week 3 Machine Learning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5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087-7EAF-F4C1-D0D9-A42C1513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85" y="136526"/>
            <a:ext cx="11941629" cy="581932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Statistics Before Machine Learning?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A577-B89B-9853-8B49-321FEEC8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" y="718458"/>
            <a:ext cx="11941629" cy="5900055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is applied statistics at scale. 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statistical foundations: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for decision-making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for prediction and inference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p-values and confidence intervals for uncertainty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relevance in Kenya: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for hypertension risk prediction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Survival analysis for HIV treatment outcomes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Statistics ensures transparent and responsible AI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message: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without statistics becomes a black box.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4A65-B586-5FD6-FEF3-2139F42C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319" y="82627"/>
            <a:ext cx="11144480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7A41-337A-7142-256C-B2267820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19" y="1024569"/>
            <a:ext cx="11788049" cy="5750804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end of this session, you will be able to:</a:t>
            </a:r>
            <a:endParaRPr lang="en-US" sz="40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Formulate and test statistical hypotheses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 regression coefficients correctly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OLS regression for continuous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logistic regression for binary outcomes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models using R², accuracy, and AUC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 regression concepts to ML algorithms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62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2CB5-2F7C-E493-7148-7C2A8AB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0" y="155805"/>
            <a:ext cx="11699913" cy="857747"/>
          </a:xfrm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155D8-BAD0-D9DE-D27F-41C1B5766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70" y="1013552"/>
            <a:ext cx="11839460" cy="5688643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Dataset: htn_dat.csv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Records: 4,900 patients from Kenyan health facilities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(continuous systolic blood pressure)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SBP_ge120 (binary hypertension indicator)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Predictor variables: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 BMI, DBP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Gender, marital status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clinic indicator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 and ART status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  <a:endParaRPr 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factors significantly predict hypertension risk?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0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A2A0-FB7A-16C5-4072-1B7D6064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09" y="0"/>
            <a:ext cx="11743981" cy="780629"/>
          </a:xfrm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Hypothesis Testing?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4BCC-C39C-A526-D04D-F8CA7C40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9" y="780629"/>
            <a:ext cx="4804301" cy="5939660"/>
          </a:xfrm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 testing evaluates claims about population parameters.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effect or no relationship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effect or relationship exists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H₀: BMI is not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H₁: BMI is associated with hypertension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tatistical Hypothesis Testing step by ...">
            <a:extLst>
              <a:ext uri="{FF2B5EF4-FFF2-40B4-BE49-F238E27FC236}">
                <a16:creationId xmlns:a16="http://schemas.microsoft.com/office/drawing/2014/main" id="{7BBCA563-700D-B01D-536B-A2CF4E5BB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310" y="1076115"/>
            <a:ext cx="7163690" cy="47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18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C4E8-A737-6484-D41E-3979EBF6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7" y="76678"/>
            <a:ext cx="11166513" cy="60435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Rule in Hypothesis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C187B-3AA4-8423-E76B-4EA33FD1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7" y="681037"/>
            <a:ext cx="3866920" cy="5984168"/>
          </a:xfrm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based on p-value:</a:t>
            </a:r>
            <a:endParaRPr lang="en-US" sz="4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&lt; 0.05 →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≥ 0.05 → Fail to reject H₀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0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principle: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do not "accept" the null hypothesis.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only reject or fail to reject it.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Decision rules for test of hypothesis about an unknown mean using an estimated variance.">
            <a:extLst>
              <a:ext uri="{FF2B5EF4-FFF2-40B4-BE49-F238E27FC236}">
                <a16:creationId xmlns:a16="http://schemas.microsoft.com/office/drawing/2014/main" id="{07FDCE45-7EA3-9A74-E491-489D1120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94" y="681037"/>
            <a:ext cx="8164602" cy="552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76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8E0F-3D80-F9A7-1A4C-6C76DDEA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37" y="100722"/>
            <a:ext cx="11777032" cy="879780"/>
          </a:xfrm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p-values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8F61-45C1-6DA2-492B-F132A0982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31" y="980502"/>
            <a:ext cx="4994314" cy="5877498"/>
          </a:xfrm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p-value measures evidence against the null hypothesis.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 of observing the data (or more extreme)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assuming the null hypothesis is true.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p-value → Strong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 p-value → Weak evidence against H₀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5A59B9-5AF4-1873-A0B9-BC3F3DE9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945" y="980502"/>
            <a:ext cx="7003055" cy="566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87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1456-96D2-BF8E-E7DF-C6A2AC63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91" y="144788"/>
            <a:ext cx="11898217" cy="758596"/>
          </a:xfrm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Example of a p-value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176D-4CD0-CEA2-ABFF-3386F85D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91" y="903384"/>
            <a:ext cx="11898217" cy="5809828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₀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is equal in urban and rural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₁</a:t>
            </a: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Mean SBP differs between clinics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0.003</a:t>
            </a: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 is compared with alpha (5% (0.05), 10%(0.1), 1%(0.01)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strong evidence that clinic location is associated with systolic blood pressure.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106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9A1C-93FF-3D26-B977-9521372B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0" y="111737"/>
            <a:ext cx="11842214" cy="6704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AAB30-ED5B-1B8A-C3D8-3015B5EA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71" y="782198"/>
            <a:ext cx="4107568" cy="596406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confidence interval provides a range of plausible values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population parameter. 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confidence interval: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study were repeated many times,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of such intervals would contain the true value.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intervals show: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 size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 of estimates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338649-6948-E8D7-A9BC-946EBCE19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638" y="1035586"/>
            <a:ext cx="7734646" cy="333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85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E026-003F-133E-EB9A-7CB1F117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8" y="54128"/>
            <a:ext cx="11942284" cy="923848"/>
          </a:xfrm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Confidence Interval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BF4A-32DF-5E39-4C46-1009A4659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6" y="1288974"/>
            <a:ext cx="4109292" cy="5365214"/>
          </a:xfrm>
        </p:spPr>
        <p:txBody>
          <a:bodyPr>
            <a:normAutofit fontScale="7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 SBP difference (urban – rural) = 4.2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CI: [2.1, 6.3] mmHg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true SBP difference lies within this range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 does not include zero → statistically significant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more information than p-value alone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2734F12-66FC-4869-EACE-B0A7EC5BA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286" y="977976"/>
            <a:ext cx="7417110" cy="536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19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6FFF-E8C7-C124-9840-E2B19410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077" y="177838"/>
            <a:ext cx="11655846" cy="670461"/>
          </a:xfrm>
        </p:spPr>
        <p:txBody>
          <a:bodyPr>
            <a:normAutofit fontScale="90000"/>
          </a:bodyPr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Choosing the Right Statistical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8376C-5CE0-E995-7C33-C28EBADF5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4" y="947451"/>
            <a:ext cx="10785516" cy="45720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selection depends on variable types: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means → Independent t-test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than two means → ANOVA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categorical variables → Chi-square test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continuous variables → Correlation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Continuous outcome → OLS regression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outcome → Logistic regression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0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A decision tree for choosing the right statistical test">
            <a:extLst>
              <a:ext uri="{FF2B5EF4-FFF2-40B4-BE49-F238E27FC236}">
                <a16:creationId xmlns:a16="http://schemas.microsoft.com/office/drawing/2014/main" id="{DB7C731E-2F0A-E9D0-FC5D-E69B41F0A2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6" y="209320"/>
            <a:ext cx="11788049" cy="663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94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A0D3-64E4-724E-73A7-2365DA41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144788"/>
            <a:ext cx="11777031" cy="69249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Regression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5B9E-B7C6-D3B1-D6D6-D1C7803D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8" y="1057620"/>
            <a:ext cx="3734718" cy="5435254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models the relationship between predictors (X)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an outcome variable (Y).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 form: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β₀ + β₁X₁ + β₂X₂ + ... + ε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2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 is the foundation of many ML algorithms.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73EC909-84C9-DA0D-CBD2-86B931987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006" y="1057620"/>
            <a:ext cx="8042311" cy="580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634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C08C-95A9-8434-468D-D316C36E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60" y="243939"/>
            <a:ext cx="11677879" cy="747579"/>
          </a:xfrm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Ordinary Least Squares (OLS)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A57F-391A-202C-6FFC-DEE2A43D4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60" y="991518"/>
            <a:ext cx="4127653" cy="5185445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predicts continuous outcomes.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application: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systolic blood pressure using: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minimizes the sum of squared prediction errors.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5BEBD3-5561-6160-6820-15DA3E438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13" y="1099086"/>
            <a:ext cx="7550226" cy="575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55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681C-0E84-A91A-8739-14BCB43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7" y="155806"/>
            <a:ext cx="11942285" cy="769612"/>
          </a:xfrm>
        </p:spPr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Interpreting OLS Coefficients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CE3E-E85F-A4B2-C0A8-9E663A14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71" y="925418"/>
            <a:ext cx="11111429" cy="525154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Coefficient interpretation: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 (+/–): Direction of relationship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Magnitude: Size of effect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p-value: Statistical significance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BMI coefficient of 0.87 means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SBP increases by 0.87 mmHg per unit BMI increase,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holding other variables constant.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93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1084-B22A-DAC3-B4A4-F9244488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53" y="78686"/>
            <a:ext cx="12026747" cy="6814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Fit in OLS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884C-FCEB-9320-72C2-95D21B31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870333"/>
            <a:ext cx="4384713" cy="5306630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evaluation metrics: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R²: Proportion of variance explained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RMSE: Prediction error magnitude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MAE: Average absolute error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does not imply causation,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explanatory power.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90AE34-ECE9-AFD8-655A-9391585F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966" y="852127"/>
            <a:ext cx="7476781" cy="532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03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4C8-1E4A-9903-E3B4-FD65C41A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33" y="133771"/>
            <a:ext cx="11843133" cy="780629"/>
          </a:xfrm>
        </p:spPr>
        <p:txBody>
          <a:bodyPr/>
          <a:lstStyle/>
          <a:p>
            <a:pPr algn="ctr"/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A780-21A2-1801-5C76-A4769154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34" y="914400"/>
            <a:ext cx="4985132" cy="5809829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 regression assumptions: 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Independence of observations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Homoscedasticity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Normality of residuals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No multicollinearity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Violations require transformations</a:t>
            </a: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alternative modeling approaches.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OLS Regression Assumptions *** | Bruce Ratner, PhD">
            <a:extLst>
              <a:ext uri="{FF2B5EF4-FFF2-40B4-BE49-F238E27FC236}">
                <a16:creationId xmlns:a16="http://schemas.microsoft.com/office/drawing/2014/main" id="{9666AE19-B647-A941-B010-C22A9803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566" y="914400"/>
            <a:ext cx="6858000" cy="580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2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81B8-39BC-CE09-5E43-B1F6B06F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54" y="2766218"/>
            <a:ext cx="1167788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11002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260</TotalTime>
  <Words>801</Words>
  <Application>Microsoft Office PowerPoint</Application>
  <PresentationFormat>Widescreen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STATISTICAL FOUNDATIONS FOR MACHINE LEARNING</vt:lpstr>
      <vt:lpstr>Why Statistics Before Machine Learning?</vt:lpstr>
      <vt:lpstr>Learning Objectives</vt:lpstr>
      <vt:lpstr>Dataset Overview</vt:lpstr>
      <vt:lpstr>What is Hypothesis Testing?</vt:lpstr>
      <vt:lpstr>Decision Rule in Hypothesis Testing</vt:lpstr>
      <vt:lpstr>Understanding p-values</vt:lpstr>
      <vt:lpstr>Medical Example of a p-value</vt:lpstr>
      <vt:lpstr>Confidence Interval</vt:lpstr>
      <vt:lpstr>Confidence Interval Example</vt:lpstr>
      <vt:lpstr>Choosing the Right Statistical Test</vt:lpstr>
      <vt:lpstr>PowerPoint Presentation</vt:lpstr>
      <vt:lpstr>Introduction to Regression Analysis</vt:lpstr>
      <vt:lpstr>Ordinary Least Squares (OLS) Regression</vt:lpstr>
      <vt:lpstr>Interpreting OLS Coefficients</vt:lpstr>
      <vt:lpstr>Model Fit in OLS Regression</vt:lpstr>
      <vt:lpstr>OLS Assumptions</vt:lpstr>
      <vt:lpstr>Logistic Regression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 FOR MACHINE LEARNING</dc:title>
  <dc:creator>Victor Wandera</dc:creator>
  <cp:lastModifiedBy>Victor Wandera</cp:lastModifiedBy>
  <cp:revision>5</cp:revision>
  <dcterms:created xsi:type="dcterms:W3CDTF">2026-02-05T12:31:50Z</dcterms:created>
  <dcterms:modified xsi:type="dcterms:W3CDTF">2026-02-05T18:05:11Z</dcterms:modified>
</cp:coreProperties>
</file>
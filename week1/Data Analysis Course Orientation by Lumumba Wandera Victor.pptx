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81" r:id="rId11"/>
    <p:sldId id="277" r:id="rId12"/>
    <p:sldId id="278" r:id="rId13"/>
    <p:sldId id="279" r:id="rId14"/>
    <p:sldId id="280" r:id="rId15"/>
    <p:sldId id="283" r:id="rId16"/>
    <p:sldId id="264" r:id="rId17"/>
    <p:sldId id="265" r:id="rId18"/>
    <p:sldId id="266" r:id="rId19"/>
    <p:sldId id="267" r:id="rId20"/>
    <p:sldId id="284" r:id="rId21"/>
    <p:sldId id="268" r:id="rId22"/>
    <p:sldId id="269" r:id="rId23"/>
    <p:sldId id="270" r:id="rId24"/>
    <p:sldId id="285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0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1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3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8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7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3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1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08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4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9679CE0-31E7-4F5C-86A5-2751C91F424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828F7307-0E22-4A15-888B-AA0973126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4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B16E-663F-1B99-C9F0-29864DDEC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71" y="131763"/>
            <a:ext cx="11244943" cy="902380"/>
          </a:xfrm>
        </p:spPr>
        <p:txBody>
          <a:bodyPr>
            <a:normAutofit/>
          </a:bodyPr>
          <a:lstStyle/>
          <a:p>
            <a:pPr algn="ctr"/>
            <a:r>
              <a:rPr lang="en-US" sz="6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Analysis Course Orientation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27C89-E23C-5627-EAA3-A13DACD43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71" y="1872343"/>
            <a:ext cx="11745686" cy="4354286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Building Future-Ready Data Professionals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Instructor: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Victor Wandera Lumumba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Date: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January 26, 2026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“Data is the new oil—but only if you know how to refine it.”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98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977B-DB84-D52D-C53A-074C747A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15610"/>
          </a:xfrm>
        </p:spPr>
        <p:txBody>
          <a:bodyPr/>
          <a:lstStyle/>
          <a:p>
            <a:pPr algn="ctr"/>
            <a:r>
              <a:rPr lang="en-US" sz="5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We’ll Cover Today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A0F04-3652-61FC-AC8F-E53DBBB16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2011680"/>
            <a:ext cx="11767457" cy="4432663"/>
          </a:xfrm>
        </p:spPr>
        <p:txBody>
          <a:bodyPr>
            <a:normAutofit fontScale="92500" lnSpcReduction="10000"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Analysis Matters – The Global &amp; Local Imperative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Your Instructor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Vision &amp; Learning Outcomes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Weekly Breakdown &amp; Tools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Capstone Project &amp; Assessment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Career Pathways &amp; Support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Q&amp;A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442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99C9-AE2D-97D1-599E-C1F7DB865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37" y="2674344"/>
            <a:ext cx="10782300" cy="1509311"/>
          </a:xfrm>
        </p:spPr>
        <p:txBody>
          <a:bodyPr/>
          <a:lstStyle/>
          <a:p>
            <a:pPr algn="ctr"/>
            <a:r>
              <a:rPr lang="en-US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Instructor</a:t>
            </a:r>
          </a:p>
        </p:txBody>
      </p:sp>
    </p:spTree>
    <p:extLst>
      <p:ext uri="{BB962C8B-B14F-4D97-AF65-F5344CB8AC3E}">
        <p14:creationId xmlns:p14="http://schemas.microsoft.com/office/powerpoint/2010/main" val="12562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6042-687E-69E9-5B2D-5F3981564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89" y="258838"/>
            <a:ext cx="10782300" cy="633790"/>
          </a:xfrm>
        </p:spPr>
        <p:txBody>
          <a:bodyPr/>
          <a:lstStyle/>
          <a:p>
            <a:pPr algn="ctr"/>
            <a:r>
              <a:rPr lang="en-US" sz="3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Victor Wandera Lumumba</a:t>
            </a:r>
            <a:endParaRPr lang="en-US" sz="19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76AF0-D7A9-3EF3-498A-C7A1425D7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71" y="892628"/>
            <a:ext cx="11811000" cy="581297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Lumumba is a Practitioner and a Scholar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PhD Candidate in Biostatistics (On-Going at Moi University)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MSc in Applied Statistics (Chuka University)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Published researcher in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XAI, survival analysis, financial volatility, malaria &amp; mental health modeling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Trainer at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DSI-Africa, NAMBARI, AFRICAST</a:t>
            </a:r>
            <a:endParaRPr lang="en-US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Currently teaching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Probability, Statistics, Calculus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Chuka University</a:t>
            </a: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I bridge academia, research, and real-world application.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05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8261-18C2-8F4A-99EB-39D173E78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42" y="222293"/>
            <a:ext cx="11832116" cy="782911"/>
          </a:xfrm>
        </p:spPr>
        <p:txBody>
          <a:bodyPr/>
          <a:lstStyle/>
          <a:p>
            <a:pPr algn="ctr"/>
            <a:r>
              <a:rPr lang="en-US" sz="5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 Research &amp; Real-World Impact</a:t>
            </a:r>
            <a:endParaRPr lang="en-US" sz="413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849D0-EB04-659A-90D8-4280FF66F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942" y="1299990"/>
            <a:ext cx="11832116" cy="523301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Theory to Action</a:t>
            </a: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Built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AI models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neonatal mortality prediction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Forecasted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malaria outbreaks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satellite + climate data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Modeled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NSE stock volatility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GARCH frameworks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Led workshops on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for HIV research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(Brown/Moi/NYU collaboration)</a:t>
            </a: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You’ll learn methods used in global health and finance.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88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DABC-6D45-C6AD-EDCC-DDB51B768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453" y="288394"/>
            <a:ext cx="10782300" cy="716810"/>
          </a:xfrm>
        </p:spPr>
        <p:txBody>
          <a:bodyPr/>
          <a:lstStyle/>
          <a:p>
            <a:pPr algn="ctr"/>
            <a:r>
              <a:rPr lang="en-US" sz="4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Expertise</a:t>
            </a:r>
            <a:endParaRPr lang="en-US" sz="34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F0054-D970-2C13-FB53-A8CB64495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37" y="1005204"/>
            <a:ext cx="11688897" cy="556440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 I Use Daily-and Will Teach You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pandas, scikit-learn,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PyTorch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statsmodels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survival, forecast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Power BI (used by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97% of Fortune 500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Spreadsheets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Advanced Excel (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750M+ users worldwide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Version Control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Git/GitHub for reproducibility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Industry-standard stack, not just academic tools.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02039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7277-C334-9FFA-CBCB-D95BCFC08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981" y="132202"/>
            <a:ext cx="10782300" cy="738844"/>
          </a:xfrm>
        </p:spPr>
        <p:txBody>
          <a:bodyPr/>
          <a:lstStyle/>
          <a:p>
            <a:r>
              <a:rPr lang="en-US" sz="4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Vision</a:t>
            </a:r>
            <a:endParaRPr lang="en-US" sz="34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89702-E834-4088-1B77-E29995BD5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81" y="871046"/>
            <a:ext cx="11668037" cy="4981750"/>
          </a:xfrm>
        </p:spPr>
        <p:txBody>
          <a:bodyPr>
            <a:normAutofit lnSpcReduction="10000"/>
          </a:bodyPr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Our Shared Mission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Equip you to: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Analyze messy real-world data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Visualize insights clearly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Build predictive models responsibly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Deploy dashboards that drive decisions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Integrate AI ethically</a:t>
            </a:r>
            <a:b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within 4 weeks—no prior coding experience required.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54842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653B-4CCB-D1F3-8097-592662161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86" y="32337"/>
            <a:ext cx="11743980" cy="970198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of Delivery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55465-E94F-606F-0F32-F40BA367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86" y="903383"/>
            <a:ext cx="11949628" cy="5746010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Flexible, Intensive, Practical</a:t>
            </a: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(7–9 PM EAT)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Duration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4 Weeks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60% hands-on labs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20% mini-projects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20% discussion &amp; feedback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Capstone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End-to-end project with real dataset</a:t>
            </a:r>
          </a:p>
        </p:txBody>
      </p:sp>
    </p:spTree>
    <p:extLst>
      <p:ext uri="{BB962C8B-B14F-4D97-AF65-F5344CB8AC3E}">
        <p14:creationId xmlns:p14="http://schemas.microsoft.com/office/powerpoint/2010/main" val="151748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80C-F46B-4384-D5E8-A0298CF49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70" y="329792"/>
            <a:ext cx="11143433" cy="959181"/>
          </a:xfrm>
        </p:spPr>
        <p:txBody>
          <a:bodyPr/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C04D1-E73F-81DF-E900-5D046C2D2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269" y="1377108"/>
            <a:ext cx="11854149" cy="5151100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Week 4, You Will…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Clean &amp; explore datasets using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(pandas)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interactive dashboards in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BI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Pivot Tables &amp; dynamic reports in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 &amp; evaluate ML models with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scikit-learn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ethics, bias, and fairness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Present findings professionally (oral + written)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29017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29BF-8C90-E205-0A74-2F00D3255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1752600"/>
            <a:ext cx="10782300" cy="3352800"/>
          </a:xfrm>
        </p:spPr>
        <p:txBody>
          <a:bodyPr/>
          <a:lstStyle/>
          <a:p>
            <a:pPr algn="ctr"/>
            <a:r>
              <a:rPr lang="en-US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Being a Data Analyst?</a:t>
            </a:r>
          </a:p>
        </p:txBody>
      </p:sp>
    </p:spTree>
    <p:extLst>
      <p:ext uri="{BB962C8B-B14F-4D97-AF65-F5344CB8AC3E}">
        <p14:creationId xmlns:p14="http://schemas.microsoft.com/office/powerpoint/2010/main" val="130711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0287-FD19-F70C-06C3-3387ECB17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993" y="142505"/>
            <a:ext cx="11766014" cy="771894"/>
          </a:xfrm>
        </p:spPr>
        <p:txBody>
          <a:bodyPr/>
          <a:lstStyle/>
          <a:p>
            <a:r>
              <a:rPr lang="en-US" sz="5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Data Explosion – By the Numbers</a:t>
            </a:r>
            <a:endParaRPr lang="en-US" sz="413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AE9D5-8802-AA2A-8311-F8A5AB160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993" y="1002535"/>
            <a:ext cx="11766014" cy="5712960"/>
          </a:xfrm>
        </p:spPr>
        <p:txBody>
          <a:bodyPr>
            <a:noAutofit/>
          </a:bodyPr>
          <a:lstStyle/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Live in a Data Tsunami where according IDC (2023)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🌍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180 zettabytes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data will be created globally by 2025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That’s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180 trillion gigabytes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—enough to fill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36 billion 5TB hard drives</a:t>
            </a:r>
            <a:endParaRPr lang="en-US" sz="3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Yet,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&lt;1%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this data is ever analyzed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Your role: turn raw data into actionable insight.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64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9CB8-86E6-EFA7-A085-5699D407A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61" y="164540"/>
            <a:ext cx="11878607" cy="727827"/>
          </a:xfrm>
        </p:spPr>
        <p:txBody>
          <a:bodyPr/>
          <a:lstStyle/>
          <a:p>
            <a:pPr algn="ctr"/>
            <a:r>
              <a:rPr lang="en-US" sz="4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Learn Data Analysis? – Global Demand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2AA97-3C39-942B-9124-2A7BC5EA1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632" y="892367"/>
            <a:ext cx="11802736" cy="5801093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High-Growth, High-Impact Careers</a:t>
            </a: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💼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35% projected job growth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(2022–2032) for data roles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(U.S. BLS)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🏢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87% of African employers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prioritize data literacy for mid/senior hires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(McKinsey, 2024)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💡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65% of African firms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plan AI integration by 2027—requiring data-literate staff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(AfDB &amp; PwC, 2025)</a:t>
            </a: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This isn’t just a skill—it’s a career accelerator.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47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381E-A848-F766-5F8C-565A799A2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53" y="120471"/>
            <a:ext cx="12008384" cy="606641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Why Learn Data Analysis? – Kenyan Context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A65B0-A7FD-39A9-E5B5-7328DE21E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54" y="727112"/>
            <a:ext cx="11887198" cy="5905042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Kenya’s Digital Future Needs You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Kenya’s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Economy Strategy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targets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million digital jobs by 2030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(World Bank, 2023)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💰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 analysts in Kenya earn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20–40% more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than non-data peers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(Brighter Monday, 2024)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⚠️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Only 12%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Sub-Saharan-African graduates have practical data skills </a:t>
            </a: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(UNESCO, 2024)</a:t>
            </a: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You’re entering a high-opportunity, low-supply market.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32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FB20-5E36-2E3E-1738-3E72A3907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61" y="186573"/>
            <a:ext cx="11933692" cy="71681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Skills Gap-Your Competitive Edge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D13A3-F37F-4DD5-F42C-56149B817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47" y="903383"/>
            <a:ext cx="11912906" cy="5768044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 Among the 12% Who Can Deliver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 graduates know theory—but lack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hands-on Python, Power BI, or Excel analytics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Employers seek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end-to-end project experience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from cleaning → modeling → dashboarding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course closes that gap in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intensive weeks</a:t>
            </a: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 won’t just learn—you’ll build.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77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3B54-31AC-DD0D-B6DD-20486F572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099" y="1519614"/>
            <a:ext cx="10782300" cy="33528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Covered Content</a:t>
            </a:r>
          </a:p>
        </p:txBody>
      </p:sp>
    </p:spTree>
    <p:extLst>
      <p:ext uri="{BB962C8B-B14F-4D97-AF65-F5344CB8AC3E}">
        <p14:creationId xmlns:p14="http://schemas.microsoft.com/office/powerpoint/2010/main" val="1280658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1850-CD10-A8AA-0C50-A06DDE8E4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34" y="90804"/>
            <a:ext cx="11843132" cy="914400"/>
          </a:xfrm>
        </p:spPr>
        <p:txBody>
          <a:bodyPr/>
          <a:lstStyle/>
          <a:p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Week 1 – Foundations of Data Analysis</a:t>
            </a:r>
            <a:endParaRPr lang="en-US" sz="34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FE860-1B36-04E0-1E37-7060A7FD2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34" y="1134736"/>
            <a:ext cx="11843132" cy="5497417"/>
          </a:xfrm>
        </p:spPr>
        <p:txBody>
          <a:bodyPr>
            <a:normAutofit fontScale="925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data analysis? (Descriptive → Diagnostic → Predictive)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vs. unstructured data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quality: missingness, outliers, duplicates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basics: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variables, data types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Pandas &amp; NumPy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loading, filtering, summarizing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Descriptive stats: mean, median, std, distributions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You’ll leave Week 1 able to load and summarize any CSV file.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652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CA87B-6DAB-70FD-B363-77741DFB5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82" y="142506"/>
            <a:ext cx="12041436" cy="970198"/>
          </a:xfrm>
        </p:spPr>
        <p:txBody>
          <a:bodyPr/>
          <a:lstStyle/>
          <a:p>
            <a:pPr algn="ctr"/>
            <a:r>
              <a:rPr lang="en-US" sz="4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Week 2 – Data Visualization &amp; Essential Analytics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62104-1B9F-5E2D-BE20-71CFBE7CA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4" y="1322024"/>
            <a:ext cx="11854148" cy="5393470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Principles of effective visualization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Matplotlib &amp; Seaborn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histograms, scatter plots, boxplots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Correlation vs. causation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Trend analysis &amp; time series basics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handling missing values, encoding</a:t>
            </a:r>
          </a:p>
          <a:p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Feature engineering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creating meaningful variables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→ Turn numbers into stories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264694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7DAA-74BE-6B86-E3EB-F663EBF9A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35" y="318775"/>
            <a:ext cx="11732963" cy="804945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Week 3 – Machine Learning &amp; AI Fundamentals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65DF7-E247-BD70-8B14-9B48E2B4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36" y="1299989"/>
            <a:ext cx="11732962" cy="5239235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vs. ML vs. Deep Learning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ML pipeline: data → features → model → evaluate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Supervised learning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regression (predicting numbers), classification (predicting categories)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Unsupervised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clustering, dimensionality reduction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evaluation: accuracy, precision, recall, F1, ROC-AUC</a:t>
            </a:r>
          </a:p>
          <a:p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Scikit-learn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train your first model in &lt;10 lines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→ No math phobia—focus on intuition and code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11761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9FBE-5308-66DB-8821-6E26F2450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36" y="208606"/>
            <a:ext cx="11721947" cy="694776"/>
          </a:xfrm>
        </p:spPr>
        <p:txBody>
          <a:bodyPr/>
          <a:lstStyle/>
          <a:p>
            <a:r>
              <a:rPr lang="en-US" sz="4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Week 4 – AI Applications, Ethics &amp; Capstone</a:t>
            </a:r>
            <a:endParaRPr lang="en-US" sz="28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31CC6-006E-C277-4390-1FA33A87D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36" y="1013551"/>
            <a:ext cx="11810082" cy="5530467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Topics: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use cases: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Healthcare: predicting disease outbreaks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Finance: credit scoring, fraud detection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Agriculture: yield forecasting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Responsible AI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bias in data, fairness, privacy (GDPR, Kenya DPA)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Generative AI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using LLMs to assist analysis (prompt engineering)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Capstone kickoff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choose your dataset, define question, build pipeline</a:t>
            </a:r>
          </a:p>
          <a:p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159935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2455-F896-83E4-2ADA-22C243876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Programs of Consideration</a:t>
            </a:r>
          </a:p>
        </p:txBody>
      </p:sp>
    </p:spTree>
    <p:extLst>
      <p:ext uri="{BB962C8B-B14F-4D97-AF65-F5344CB8AC3E}">
        <p14:creationId xmlns:p14="http://schemas.microsoft.com/office/powerpoint/2010/main" val="1606550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10007-6624-1A82-408A-5FDF7CB57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796" y="142505"/>
            <a:ext cx="10782300" cy="99223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D4DAB-4DA7-1AEF-3ABF-B6EDD7EEB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96" y="1211855"/>
            <a:ext cx="11746404" cy="5398265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BI is the #1 Business Intelligence Tool</a:t>
            </a:r>
            <a:endParaRPr lang="en-US" sz="3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by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97% of Fortune 500 companies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(Microsoft, 2025)</a:t>
            </a:r>
            <a:endParaRPr lang="en-US" sz="3600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Free for students; integrates with Excel, SQL, Python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dashboards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decision-makers</a:t>
            </a: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demand in Kenyan banks, telcos, NGOs, and government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You’ll build a portfolio-ready dashboard.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01337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7F4D-C405-5E48-7FA1-298FD269E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79" y="131489"/>
            <a:ext cx="11790472" cy="793928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B7158-7F1F-455B-A8A4-505AE6636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80" y="925417"/>
            <a:ext cx="11669286" cy="5618602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Language of Data Science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85% of data professionals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Python daily </a:t>
            </a: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(Stack Overflow, 2024)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 syntax, vast libraries (pandas, scikit-learn, TensorFlow)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Open-source, free, and community-supported</a:t>
            </a:r>
          </a:p>
          <a:p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Used in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Google, NASA, WHO, Safaricom, KCB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→ One language opens countless doors.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046186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197B-ED8C-4D88-6233-E27695EC8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52" y="101107"/>
            <a:ext cx="11688896" cy="904097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Microsoft Excel Still Matters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F6C85-24DC-F9CC-3831-119E43037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52" y="1005203"/>
            <a:ext cx="11688896" cy="5538815"/>
          </a:xfrm>
        </p:spPr>
        <p:txBody>
          <a:bodyPr>
            <a:normAutofit fontScale="925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Don’t Underestimate the Spreadsheet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750+ million users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globally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90% of Fortune 100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still use Excel for core reporting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PivotTables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fastest way to explore data without </a:t>
            </a:r>
            <a:r>
              <a:rPr lang="en-US" sz="4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codin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marR="0" lvl="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Essential for SMEs, NGOs, and government offices in Kenya</a:t>
            </a:r>
            <a:b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→ Mastering Excel makes you immediately employable.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776951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FAC4-A6B7-DC47-A655-82D250B8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35" y="2343481"/>
            <a:ext cx="10782300" cy="2171037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Teaching Philosophy and Deliverables</a:t>
            </a:r>
          </a:p>
        </p:txBody>
      </p:sp>
    </p:spTree>
    <p:extLst>
      <p:ext uri="{BB962C8B-B14F-4D97-AF65-F5344CB8AC3E}">
        <p14:creationId xmlns:p14="http://schemas.microsoft.com/office/powerpoint/2010/main" val="803392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0FAC-60C5-F64F-73EF-28EEF007F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27" y="142506"/>
            <a:ext cx="11834539" cy="738844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Capstone Project – Your Showcase</a:t>
            </a:r>
            <a:endParaRPr lang="en-US" sz="34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7AA7E-2278-25AC-694F-6E4F46859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28" y="881349"/>
            <a:ext cx="11834538" cy="5739787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 student dropout risk using survey data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 mobile money transaction trends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 rainfall impacts on crop prices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a mental health risk dashboard</a:t>
            </a:r>
            <a:b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Deliverables: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 repo (code + documentation)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BI dashboard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5-page report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10-minute presentation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69419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F3C0-93E6-3A3E-929A-E6A8F8BA3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782" y="164539"/>
            <a:ext cx="11703587" cy="871047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 Will Need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A05E7-AFD1-5A58-C2D7-FAA243232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52" y="1035587"/>
            <a:ext cx="11898217" cy="556351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Laptop with internet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Install: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Anaconda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(Python +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 BI Desktop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(free)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Excel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Curiosity &amp; willingness to experiment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prior coding experience needed—we start from zero.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082767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B0DD-E72D-1A7A-CAE8-9950CC6E9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913" y="120472"/>
            <a:ext cx="10782300" cy="683760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 Teaching Philosophy</a:t>
            </a:r>
            <a:endParaRPr lang="en-US" sz="344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73EFE-7CA0-984C-77FE-84E583A22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914" y="1024569"/>
            <a:ext cx="11581152" cy="5833431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I Teach: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Learner-centered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your goals shape examples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datasets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health, finance, climate, education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Ethics-first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always ask “Who does this impact?”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Fail fast, learn faster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debugging is part of the process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Collaborative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peer review, group problem-solving</a:t>
            </a:r>
          </a:p>
        </p:txBody>
      </p:sp>
    </p:spTree>
    <p:extLst>
      <p:ext uri="{BB962C8B-B14F-4D97-AF65-F5344CB8AC3E}">
        <p14:creationId xmlns:p14="http://schemas.microsoft.com/office/powerpoint/2010/main" val="1257648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7904-DE4E-E89A-B940-005CB7958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87" y="0"/>
            <a:ext cx="11567711" cy="837996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Beyond the Course - Career Pathways</a:t>
            </a:r>
            <a:endParaRPr lang="en-US" sz="344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58018-341F-9F29-5F41-679778375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87" y="1145755"/>
            <a:ext cx="11832115" cy="5497416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This Can Take You: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Analyst (banks, telcos, NGOs)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Intelligence Developer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Assistant (universities, KEMRI)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Health Data Scientist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Freelance Consultant (Upwork, Fiverr)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PhD in Data Science / Biostatistics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needs 50,000+ data professionals by 2030—be one of them.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16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7859-4403-2B0C-BEBD-A7A894C84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251" y="115679"/>
            <a:ext cx="10782300" cy="1030076"/>
          </a:xfrm>
        </p:spPr>
        <p:txBody>
          <a:bodyPr/>
          <a:lstStyle/>
          <a:p>
            <a:r>
              <a:rPr lang="en-US" sz="6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 Commitment to You</a:t>
            </a:r>
            <a:endParaRPr lang="en-US" sz="60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18C7F-A4BF-DAE3-7822-EFFAD1A4D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304" y="1145755"/>
            <a:ext cx="11721947" cy="5321145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 Promise: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Clear, structured lessons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Timely, constructive feedback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Flexibility for genuine challenges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Passion for your growth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safe space to ask “stupid” questions</a:t>
            </a: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Your success is my success.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7773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CF0B-1667-715E-2534-A4CF1D5D8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78" y="175556"/>
            <a:ext cx="11702337" cy="829648"/>
          </a:xfrm>
        </p:spPr>
        <p:txBody>
          <a:bodyPr/>
          <a:lstStyle/>
          <a:p>
            <a:pPr algn="ctr"/>
            <a:r>
              <a:rPr lang="en-US" sz="6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Expectations from You</a:t>
            </a:r>
            <a:endParaRPr lang="en-US" sz="49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90B13-FD52-0781-CAC4-1A9C150DE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78" y="1005204"/>
            <a:ext cx="11834540" cy="552779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 Ask: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 sessions (online)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 original work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 peers when you can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 honest feedback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Stay curious-even when stuck</a:t>
            </a:r>
            <a:b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Great analysts are persistent learners.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7885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Override1.xml><?xml version="1.0" encoding="utf-8"?>
<a:themeOverride xmlns:a="http://schemas.openxmlformats.org/drawingml/2006/main">
  <a:clrScheme name="Metropolitan">
    <a:dk1>
      <a:sysClr val="windowText" lastClr="000000"/>
    </a:dk1>
    <a:lt1>
      <a:sysClr val="window" lastClr="FFFFFF"/>
    </a:lt1>
    <a:dk2>
      <a:srgbClr val="162F33"/>
    </a:dk2>
    <a:lt2>
      <a:srgbClr val="EAF0E0"/>
    </a:lt2>
    <a:accent1>
      <a:srgbClr val="50B4C8"/>
    </a:accent1>
    <a:accent2>
      <a:srgbClr val="A8B97F"/>
    </a:accent2>
    <a:accent3>
      <a:srgbClr val="9B9256"/>
    </a:accent3>
    <a:accent4>
      <a:srgbClr val="657689"/>
    </a:accent4>
    <a:accent5>
      <a:srgbClr val="7A855D"/>
    </a:accent5>
    <a:accent6>
      <a:srgbClr val="84AC9D"/>
    </a:accent6>
    <a:hlink>
      <a:srgbClr val="2370CD"/>
    </a:hlink>
    <a:folHlink>
      <a:srgbClr val="87758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1465</Words>
  <Application>Microsoft Office PowerPoint</Application>
  <PresentationFormat>Widescreen</PresentationFormat>
  <Paragraphs>166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 Light</vt:lpstr>
      <vt:lpstr>Courier New</vt:lpstr>
      <vt:lpstr>Segoe UI Emoji</vt:lpstr>
      <vt:lpstr>Symbol</vt:lpstr>
      <vt:lpstr>Times New Roman</vt:lpstr>
      <vt:lpstr>Wingdings</vt:lpstr>
      <vt:lpstr>Metropolitan</vt:lpstr>
      <vt:lpstr>Data Analysis Course Orientation</vt:lpstr>
      <vt:lpstr>What We’ll Cover Today</vt:lpstr>
      <vt:lpstr>About the Instructor</vt:lpstr>
      <vt:lpstr>Victor Wandera Lumumba</vt:lpstr>
      <vt:lpstr>My Research &amp; Real-World Impact</vt:lpstr>
      <vt:lpstr>Technical Expertise</vt:lpstr>
      <vt:lpstr>Course Vision</vt:lpstr>
      <vt:lpstr>Mode of Delivery</vt:lpstr>
      <vt:lpstr>Learning  Outcomes</vt:lpstr>
      <vt:lpstr>Why Being a Data Analyst?</vt:lpstr>
      <vt:lpstr>The Data Explosion – By the Numbers</vt:lpstr>
      <vt:lpstr>Why Learn Data Analysis? – Global Demand</vt:lpstr>
      <vt:lpstr>Why Learn Data Analysis? – Kenyan Context</vt:lpstr>
      <vt:lpstr>The Skills Gap-Your Competitive Edge</vt:lpstr>
      <vt:lpstr>Weekly Covered Content</vt:lpstr>
      <vt:lpstr>Week 1 – Foundations of Data Analysis</vt:lpstr>
      <vt:lpstr>Week 2 – Data Visualization &amp; Essential Analytics</vt:lpstr>
      <vt:lpstr>Week 3 – Machine Learning &amp; AI Fundamentals</vt:lpstr>
      <vt:lpstr>Week 4 – AI Applications, Ethics &amp; Capstone</vt:lpstr>
      <vt:lpstr>Software Programs of Consideration</vt:lpstr>
      <vt:lpstr>Why Power BI</vt:lpstr>
      <vt:lpstr>Why Python</vt:lpstr>
      <vt:lpstr>Why Microsoft Excel Still Matters</vt:lpstr>
      <vt:lpstr>Teaching Philosophy and Deliverables</vt:lpstr>
      <vt:lpstr>Capstone Project – Your Showcase</vt:lpstr>
      <vt:lpstr>What you Will Need</vt:lpstr>
      <vt:lpstr>My Teaching Philosophy</vt:lpstr>
      <vt:lpstr>Beyond the Course - Career Pathways</vt:lpstr>
      <vt:lpstr>My Commitment to You</vt:lpstr>
      <vt:lpstr>Expectations from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Course Orientation</dc:title>
  <dc:creator>Victor Wandera</dc:creator>
  <cp:lastModifiedBy>Victor Wandera</cp:lastModifiedBy>
  <cp:revision>7</cp:revision>
  <dcterms:created xsi:type="dcterms:W3CDTF">2026-01-26T12:06:14Z</dcterms:created>
  <dcterms:modified xsi:type="dcterms:W3CDTF">2026-01-26T15:55:17Z</dcterms:modified>
</cp:coreProperties>
</file>
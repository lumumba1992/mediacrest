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4660"/>
  </p:normalViewPr>
  <p:slideViewPr>
    <p:cSldViewPr snapToGrid="0">
      <p:cViewPr>
        <p:scale>
          <a:sx n="80" d="100"/>
          <a:sy n="80" d="100"/>
        </p:scale>
        <p:origin x="44" y="-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1A2D1-CE4F-4E71-09CC-2719BC63C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37F5C-C072-F75F-74F1-A09EC58FD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05A1-DBDF-CE71-1231-C1F2BAE4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72573-F52B-36A4-8D76-715E4C6E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F0B6-9D2F-0451-8BF0-6027CC69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9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3EBA-F5DF-82D2-1D1F-CA3E1AF8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7902-AADC-5357-F8A9-A7F814057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B08AF-C3FC-660F-1D4E-31FE39D4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5983-1EA0-5EE5-40A1-F320D6FB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F565E-85DF-9C7E-3B92-E6FB6BA6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1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F7E-BE47-D85B-6403-37CA4DF7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662E3-4877-D188-BAF7-38D712BAB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5E50C-F1F2-1500-E6A2-DD2435BE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20958-C300-C997-06BE-FB1FE727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E0ED0-D8D6-4908-7A39-79E76B3F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62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013C-4E92-08FA-3809-60DB493B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AF0EA-624D-5CC1-6D68-FE7CE1D01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8D42E-B6F1-3B2C-1550-5649A57B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36EAB-8644-45EA-DBE1-CD1884BD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FEB4F-3AEF-38A3-91DB-DCF67256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21667-15F0-8238-36FB-11FFB8B6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8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4D15-2AD8-C1E1-5119-AA0CD057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4CC57-7DCB-3812-42DB-5DDBA1082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9D38-C86E-09A8-6D8D-668980D74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9C1EA-F874-0E00-FDCD-2897F0C84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312A0-D13E-3D76-35DD-2E47EEAEE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53E82-D847-6257-30E4-ABC47DDC4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47BD6-AB66-96E2-7D54-D1A4302C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F5DEC-ACA5-718E-C63B-863DD261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0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B357-828B-0309-CC87-5613410E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06F1F-112D-6597-D0AE-A1D06F4C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CF76A-16B4-EA6B-FBF6-F5A93DFA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78AC2-E336-00DE-2002-DD3B586D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6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FD66C6-6231-D3A9-C14C-ACBD8D2F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578F0-0883-BDA3-80EF-A24EDA28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44F95-16C3-D37B-84F2-3A4FFCA3B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E78F-524E-6278-50B9-997670ED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07F0-67CA-F8AA-253A-0F97963E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9C374-765F-2E36-6C8D-D215881FD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85DD8-3F58-9084-42DF-7472819B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B35F-DD02-17C5-88EC-F451454B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ECB2B-E740-F0AB-EF99-10B11F64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3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105A-1E60-6A3D-DC94-524A6C25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A6FE1-F01A-F1DE-8B5E-E926F9DAF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DE824-3E9E-067F-B866-1B79EA0B0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83F96-9B61-CDA8-0B42-FED48D5B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4725B-ACE6-2150-92EB-15F4164A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FADB3-C0A5-5901-97A2-E133565A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1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1734-4D47-3AD9-CF43-ECAB49BF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B1FD7-C8D4-CAB7-B2FC-5F33732C4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A82FA-C378-DC01-6977-0DA2B310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993F-0AE3-B0C6-FD35-AF170FCA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FB14-EAEB-E30B-8F05-A0FC654C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2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32823-404D-F218-4634-B9CFD8C7F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22FB4-4628-A60F-7277-2F0C977DF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10050-AF53-89EC-BDAE-4618AF27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9E29A-7266-B759-BC2A-DA4701E5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062A7-6563-D1A1-90EC-66F49130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6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D8520-919A-C9DF-26F2-E88C60F4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53BFE-F0FD-FFF3-F569-EA2EAD77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0DA18-59AF-A6A4-7067-A80E4FF6A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4EE44-71A3-4281-AC9C-EE652589C2F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49320-E6DF-A04B-6DF3-51537F5F4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11E9E-74D7-C30E-03FF-718139BF2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DAF0-8BC0-4D29-BF06-47C194CC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0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ADA7-7255-8540-9203-9D5C825F7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131763"/>
            <a:ext cx="9144000" cy="1033008"/>
          </a:xfrm>
        </p:spPr>
        <p:txBody>
          <a:bodyPr>
            <a:normAutofit/>
          </a:bodyPr>
          <a:lstStyle/>
          <a:p>
            <a:r>
              <a:rPr lang="en-US" sz="6000" b="1" kern="1800" dirty="0">
                <a:solidFill>
                  <a:srgbClr val="FF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🔧</a:t>
            </a:r>
            <a:r>
              <a:rPr lang="en-US" sz="6000" b="1" kern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Training Outline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3310B-C5C3-7CD4-E755-26E218ADC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43" y="1480457"/>
            <a:ext cx="11800114" cy="3755572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Foundations of Data Analysis</a:t>
            </a:r>
            <a:b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Week 1 Theme: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Raw Data to First Insights</a:t>
            </a:r>
            <a:b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Beginners / Mixed-background learners</a:t>
            </a:r>
            <a:b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 Mode: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Lecture + Live Demo + Hands-on Lab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8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4D35-85B5-CEE6-9E50-EB016B1A7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743" y="99106"/>
            <a:ext cx="11397343" cy="749980"/>
          </a:xfrm>
        </p:spPr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Outcomes </a:t>
            </a:r>
            <a:endParaRPr lang="en-US" sz="16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C0CFE-EBB0-EE54-CA5D-4FFAD0378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47057"/>
            <a:ext cx="11887200" cy="4310743"/>
          </a:xfrm>
        </p:spPr>
        <p:txBody>
          <a:bodyPr>
            <a:normAutofit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end of Week 1, learners will be able to:</a:t>
            </a: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what data analysis is and why it matters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Distinguish between different types and formats of data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common data quality issues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kern="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3200" kern="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load a CSV dataset</a:t>
            </a:r>
            <a:endParaRPr lang="en-US" sz="3200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 basic data inspection and descriptive statistics using Python</a:t>
            </a:r>
            <a:endParaRPr lang="en-US" sz="3200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 simple, meaningful insights from a real dataset</a:t>
            </a:r>
            <a:endParaRPr lang="en-US" sz="3200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9829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87E8-22BF-92BE-2B72-04945EC48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73" y="97794"/>
            <a:ext cx="11762343" cy="83863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Covered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5503-B626-4BFF-BFFE-A6DCC4897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73" y="936433"/>
            <a:ext cx="11762343" cy="555250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Analysis?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 in Decision-Making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Data: Structured vs. Unstructured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Common 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Python &amp; </a:t>
            </a:r>
            <a:r>
              <a:rPr lang="en-US" sz="4000" b="0" i="0" dirty="0" err="1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en-US" sz="4000" b="0" i="0" dirty="0">
              <a:solidFill>
                <a:srgbClr val="1D1D1F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Hands-on Lab: Exploring Student Performance Data</a:t>
            </a:r>
          </a:p>
        </p:txBody>
      </p:sp>
    </p:spTree>
    <p:extLst>
      <p:ext uri="{BB962C8B-B14F-4D97-AF65-F5344CB8AC3E}">
        <p14:creationId xmlns:p14="http://schemas.microsoft.com/office/powerpoint/2010/main" val="47292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E457-B302-5AF9-034C-6DD232775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75" y="163896"/>
            <a:ext cx="11784376" cy="893724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Analysis?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3A4D9-0A40-F176-7F52-F3DFBDE1E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75" y="1057620"/>
            <a:ext cx="11784376" cy="5636484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analysis is the process of inspecting, cleaning, transforming, and modeling data to discover useful information, draw conclusions, and support decision-making.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goal: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Convert raw data into meaningful insights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goes beyond reporting - it involves asking </a:t>
            </a: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if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Data-Driven Decision Cycle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Clearly define the problem or question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Gather relevant data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Address errors and missing values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Summarize, visualize, and model the data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Make informed decisions and communicate results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Universities analyze student data to reduce dropout rates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8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4059-637C-A528-6364-0C879EA1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471" y="185929"/>
            <a:ext cx="11622795" cy="816606"/>
          </a:xfrm>
        </p:spPr>
        <p:txBody>
          <a:bodyPr>
            <a:normAutofit fontScale="90000"/>
          </a:bodyPr>
          <a:lstStyle/>
          <a:p>
            <a:r>
              <a:rPr lang="en-US" sz="6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Impact of Data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4EF1A-C06D-886C-6CF3-AA105B4D6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471" y="1002535"/>
            <a:ext cx="11622795" cy="566953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🏥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Predicting disease outbreaks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🏦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Real-time fraud detection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🌾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Crop yield forecasting using satellite data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🎓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Early identification of at-risk students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Kenya, data literacy is a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priority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 the Digital Economy Blueprint.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6450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1E43-220B-D145-015E-C3F20DE34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6" y="108812"/>
            <a:ext cx="11938613" cy="8526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Types, Formats and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A51F8-F8A2-2396-58B5-25CE8B0DA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55" y="1068636"/>
            <a:ext cx="11938613" cy="3114606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different types of data structures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2276C8-6091-6835-FBA6-B3DA664CE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64599"/>
              </p:ext>
            </p:extLst>
          </p:nvPr>
        </p:nvGraphicFramePr>
        <p:xfrm>
          <a:off x="124854" y="1600200"/>
          <a:ext cx="5971146" cy="22887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0382">
                  <a:extLst>
                    <a:ext uri="{9D8B030D-6E8A-4147-A177-3AD203B41FA5}">
                      <a16:colId xmlns:a16="http://schemas.microsoft.com/office/drawing/2014/main" val="1016313769"/>
                    </a:ext>
                  </a:extLst>
                </a:gridCol>
                <a:gridCol w="1990382">
                  <a:extLst>
                    <a:ext uri="{9D8B030D-6E8A-4147-A177-3AD203B41FA5}">
                      <a16:colId xmlns:a16="http://schemas.microsoft.com/office/drawing/2014/main" val="1812231458"/>
                    </a:ext>
                  </a:extLst>
                </a:gridCol>
                <a:gridCol w="1990382">
                  <a:extLst>
                    <a:ext uri="{9D8B030D-6E8A-4147-A177-3AD203B41FA5}">
                      <a16:colId xmlns:a16="http://schemas.microsoft.com/office/drawing/2014/main" val="2864915009"/>
                    </a:ext>
                  </a:extLst>
                </a:gridCol>
              </a:tblGrid>
              <a:tr h="4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8430055"/>
                  </a:ext>
                </a:extLst>
              </a:tr>
              <a:tr h="495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Organized in rows and columns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files, SQL tables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49304"/>
                  </a:ext>
                </a:extLst>
              </a:tr>
              <a:tr h="495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Unstructured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predefined structure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Emails, images, social media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1438493"/>
                  </a:ext>
                </a:extLst>
              </a:tr>
              <a:tr h="495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Semi-structured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Partially organized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JSON, XML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27402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8D34E84-615B-C269-EFB9-97DDC8FD597C}"/>
              </a:ext>
            </a:extLst>
          </p:cNvPr>
          <p:cNvSpPr txBox="1"/>
          <p:nvPr/>
        </p:nvSpPr>
        <p:spPr>
          <a:xfrm>
            <a:off x="6731305" y="1492992"/>
            <a:ext cx="5122843" cy="1444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course focuses primarily on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such as CSV files.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E9EAC-FF6E-3333-A05A-F4C8E4025883}"/>
              </a:ext>
            </a:extLst>
          </p:cNvPr>
          <p:cNvSpPr txBox="1"/>
          <p:nvPr/>
        </p:nvSpPr>
        <p:spPr>
          <a:xfrm>
            <a:off x="124855" y="4183242"/>
            <a:ext cx="6097836" cy="2528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Common Data Formats</a:t>
            </a:r>
            <a:endParaRPr lang="en-US" sz="2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.csv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Lightweight and widely supported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.xlsx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Multiple sheets and formulas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Common in web APIs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MySQL, PostgreSQL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begin with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CSV files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due to their simplicity and versatility.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Different Types of Data | Medium">
            <a:extLst>
              <a:ext uri="{FF2B5EF4-FFF2-40B4-BE49-F238E27FC236}">
                <a16:creationId xmlns:a16="http://schemas.microsoft.com/office/drawing/2014/main" id="{53F792E5-A47D-848A-6A73-F01F757B2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691" y="3018622"/>
            <a:ext cx="5631458" cy="364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51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8029-3DC3-45B6-F8B9-8A7B95717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07" y="119828"/>
            <a:ext cx="11916579" cy="673386"/>
          </a:xfrm>
        </p:spPr>
        <p:txBody>
          <a:bodyPr>
            <a:noAutofit/>
          </a:bodyPr>
          <a:lstStyle/>
          <a:p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“Good” Data?</a:t>
            </a:r>
            <a:endParaRPr lang="en-US" sz="9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C27F9-35EB-71E7-E334-5B7123AF7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793213"/>
            <a:ext cx="5155894" cy="2952522"/>
          </a:xfrm>
        </p:spPr>
        <p:txBody>
          <a:bodyPr>
            <a:normAutofit fontScale="92500" lnSpcReduction="2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Good-quality data is: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Accurate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Complete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Consistent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Relevant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Poor-quality data leads to poor decisions 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garbage in, garbage out.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200" dirty="0"/>
          </a:p>
        </p:txBody>
      </p:sp>
      <p:pic>
        <p:nvPicPr>
          <p:cNvPr id="3074" name="Picture 2" descr="Why Data Garbage-In means Analytics Garbage-Out.. - Vamsi Talks Tech">
            <a:extLst>
              <a:ext uri="{FF2B5EF4-FFF2-40B4-BE49-F238E27FC236}">
                <a16:creationId xmlns:a16="http://schemas.microsoft.com/office/drawing/2014/main" id="{A766F3C9-487B-A45D-9014-0D7233732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30" y="758887"/>
            <a:ext cx="5713221" cy="571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6AF579-8549-3FE5-234E-9202C870D76E}"/>
              </a:ext>
            </a:extLst>
          </p:cNvPr>
          <p:cNvSpPr txBox="1"/>
          <p:nvPr/>
        </p:nvSpPr>
        <p:spPr>
          <a:xfrm>
            <a:off x="78953" y="3847672"/>
            <a:ext cx="6145577" cy="262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Data Problems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Missing values (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Duplicate records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Outliers (e.g., unrealistic ages)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Inconsistent formatting (e.g., “Male”, “M”, “m”)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Incorrect data types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5007-0FDC-8B05-615B-FF8623E56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36" y="1"/>
            <a:ext cx="11931268" cy="73812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the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A5294-714B-9340-C63B-42AB21603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36" y="859315"/>
            <a:ext cx="11883528" cy="5713623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Quality Data + Good Quality Model = Good Results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High-quality data, defined by accuracy, completeness, and consistency, is the critical foundation for data analysis.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This helps in ensuring models learn accurate patterns to produce reliable, trustworthy, and actionable results.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Combining this with a well-designed, appropriate model prevents, garbage-in, garbage-out scenarios, leading to superior performance and informed decision-making. </a:t>
            </a:r>
          </a:p>
        </p:txBody>
      </p:sp>
      <p:pic>
        <p:nvPicPr>
          <p:cNvPr id="7170" name="Picture 2" descr="Learn Advanced Data Cleaning in R ...">
            <a:extLst>
              <a:ext uri="{FF2B5EF4-FFF2-40B4-BE49-F238E27FC236}">
                <a16:creationId xmlns:a16="http://schemas.microsoft.com/office/drawing/2014/main" id="{0DC13B5C-C6C1-243D-6FD6-88A014276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36" y="3716126"/>
            <a:ext cx="5852450" cy="29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ata Quality Considerations for Machine Learning Models | by Andy McDonald  | TDS Archive | Medium">
            <a:extLst>
              <a:ext uri="{FF2B5EF4-FFF2-40B4-BE49-F238E27FC236}">
                <a16:creationId xmlns:a16="http://schemas.microsoft.com/office/drawing/2014/main" id="{01593711-5A5F-0DAC-3462-41F7B0774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686" y="3716125"/>
            <a:ext cx="6031078" cy="29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AAF3-B86C-4DB4-9C88-712ADD8E2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41" y="218980"/>
            <a:ext cx="11894545" cy="13233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Pivot Data Analysis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Turning Raw Student Data into Actionable Insights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A3DF9F-1F8F-6CD4-8325-855896C7E2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9941" y="2153357"/>
            <a:ext cx="11641711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Key Points: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📊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750+ million users worldwide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 — most common business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💼 Used daily in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banks, NGOs, universities, and government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 in Kenya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✅ No coding required — ideal for beginners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🔧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PivotTables = instant summaries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 without formulas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🚀 Foundation for Power BI &amp; Python later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You’ll be job-ready faster by mastering Excel first.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0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660F-3970-0D5C-BF7A-C4A78FF16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7" y="152879"/>
            <a:ext cx="11927595" cy="772538"/>
          </a:xfrm>
        </p:spPr>
        <p:txBody>
          <a:bodyPr>
            <a:noAutofit/>
          </a:bodyPr>
          <a:lstStyle/>
          <a:p>
            <a:r>
              <a:rPr lang="en-US" sz="4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Our Dataset – Student Performance (1,500 Records)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81EAEC8-AF74-2354-4264-20D974D20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57" y="1167788"/>
            <a:ext cx="11927595" cy="3657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file?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ID, Gender, Age, Program, Year of Study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Scores: Math, English, Data Skills Pre-Test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Metrics: Attendance %, Study Hours/Wee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Family Income, Scholarship Status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 Previous CGPA, Final Grade, At Risk of Retaking the Course or Not (Yes/No)</a:t>
            </a:r>
          </a:p>
        </p:txBody>
      </p:sp>
    </p:spTree>
    <p:extLst>
      <p:ext uri="{BB962C8B-B14F-4D97-AF65-F5344CB8AC3E}">
        <p14:creationId xmlns:p14="http://schemas.microsoft.com/office/powerpoint/2010/main" val="340873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F5C6-E313-9E1B-3E8E-021D0568D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09" y="108812"/>
            <a:ext cx="11839460" cy="78355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Is a PivotTable?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DFD70-0DF0-B33D-2F37-DE69D0DF4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09" y="892367"/>
            <a:ext cx="11839460" cy="5640635"/>
          </a:xfrm>
        </p:spPr>
        <p:txBody>
          <a:bodyPr>
            <a:normAutofit fontScale="92500" lnSpcReduction="2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PivotTable is an interactive Excel tool that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summarizes large datasets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grouping, filtering, and calculating values-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without writing formulas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it’s powerful: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Drag-and-drop interface</a:t>
            </a: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Instantly answer questions like: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“What’s the average Final Grade by Program?”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“How many at-risk students are in Business?”</a:t>
            </a: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Updates automatically when data changes</a:t>
            </a:r>
          </a:p>
        </p:txBody>
      </p:sp>
    </p:spTree>
    <p:extLst>
      <p:ext uri="{BB962C8B-B14F-4D97-AF65-F5344CB8AC3E}">
        <p14:creationId xmlns:p14="http://schemas.microsoft.com/office/powerpoint/2010/main" val="1128229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3D1A-FCA9-1AEE-CDF2-57DD94F0A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23" y="207963"/>
            <a:ext cx="11894545" cy="805589"/>
          </a:xfrm>
        </p:spPr>
        <p:txBody>
          <a:bodyPr>
            <a:noAutofit/>
          </a:bodyPr>
          <a:lstStyle/>
          <a:p>
            <a:r>
              <a:rPr lang="en-US" sz="4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Your First PivotTable</a:t>
            </a:r>
            <a:endParaRPr lang="en-US" sz="138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C81D2-83FB-106C-D7BC-11C525CA3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22" y="1255923"/>
            <a:ext cx="11611778" cy="5056742"/>
          </a:xfrm>
        </p:spPr>
        <p:txBody>
          <a:bodyPr>
            <a:normAutofit fontScale="92500"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Instructions: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student performance.csv in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 cell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data</a:t>
            </a: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Insert → PivotTable → OK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PivotTable Fields pane: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Rows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Grade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(it will default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You now see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final grade per program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Tip: Right-click any value → “Value Field Settings” to change from Average to Count, Sum, etc.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76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AAF5-3833-E475-ADF4-FC75CD6E0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3813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PivotTable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C5D5A-644C-6DBC-E7DF-596DE5F09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8299"/>
            <a:ext cx="12192000" cy="44095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PivotTables can answer common analytical questions quickly: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67E592-7012-CB40-14F0-A78987D6B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2282"/>
              </p:ext>
            </p:extLst>
          </p:nvPr>
        </p:nvGraphicFramePr>
        <p:xfrm>
          <a:off x="231353" y="1344058"/>
          <a:ext cx="11743982" cy="47831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71991">
                  <a:extLst>
                    <a:ext uri="{9D8B030D-6E8A-4147-A177-3AD203B41FA5}">
                      <a16:colId xmlns:a16="http://schemas.microsoft.com/office/drawing/2014/main" val="2659638181"/>
                    </a:ext>
                  </a:extLst>
                </a:gridCol>
                <a:gridCol w="5871991">
                  <a:extLst>
                    <a:ext uri="{9D8B030D-6E8A-4147-A177-3AD203B41FA5}">
                      <a16:colId xmlns:a16="http://schemas.microsoft.com/office/drawing/2014/main" val="3026253683"/>
                    </a:ext>
                  </a:extLst>
                </a:gridCol>
              </a:tblGrid>
              <a:tr h="7491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Question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PivotTable Configuration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312184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students per program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Program; Values: Student ID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5400004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attendance by gender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Gender; Values: Attendance Pct (Average)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5166018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of at-risk students by income level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Family Income Level; Values: At Risk (Average × 100)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025258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study hours by scholarship status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Scholarship Status; Values: Study Hours Per Week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358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05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00F1-F6BB-E96A-0577-AA967FC73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925" y="128971"/>
            <a:ext cx="11828444" cy="662370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 Filters and Slicers</a:t>
            </a:r>
            <a:endParaRPr lang="en-US" sz="14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5F602-9766-2366-1E49-CF9E02871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925" y="958467"/>
            <a:ext cx="11740309" cy="4299333"/>
          </a:xfrm>
        </p:spPr>
        <p:txBody>
          <a:bodyPr>
            <a:normAutofit fontScale="925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PivotTables become more powerful when interactivity is added.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 Filters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filter data by variables such as Year of Study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visually filter by Gender, Program, or At-Risk status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 multiple PivotTables and slicers to create interactive dashboards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approach mirrors professional Excel dashboards used by decision-makers.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35421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8166-672D-8EB8-7760-8C25935B2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991" y="196946"/>
            <a:ext cx="11740309" cy="651353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Identifying At-Risk Students</a:t>
            </a:r>
            <a:endParaRPr lang="en-US" sz="14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686E6-DAE1-B43A-6E2A-6852B290F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991" y="1046601"/>
            <a:ext cx="11740309" cy="5365215"/>
          </a:xfrm>
        </p:spPr>
        <p:txBody>
          <a:bodyPr>
            <a:normAutofit fontScale="92500"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analyze student risk patterns, create the following PivotTable: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Rows: Program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Columns: Family Income Level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Values: </a:t>
            </a:r>
            <a:r>
              <a:rPr lang="en-US" sz="32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At_Risk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(Average)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 results as percentages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 from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low-income backgrounds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particularly in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 and Agriculture programs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exhibit higher risk levels and may require targeted support.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demonstrates data-driven decision-making.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550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5A10-5A96-EC6C-EEC2-51B498C24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13" y="274064"/>
            <a:ext cx="11652173" cy="684403"/>
          </a:xfrm>
        </p:spPr>
        <p:txBody>
          <a:bodyPr>
            <a:normAutofit/>
          </a:bodyPr>
          <a:lstStyle/>
          <a:p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 Practices and Common Mistakes</a:t>
            </a:r>
            <a:endParaRPr lang="en-US" sz="115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6F082-8A6A-9882-72E5-AA00DB2B9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13" y="1156771"/>
            <a:ext cx="11652173" cy="5288096"/>
          </a:xfrm>
        </p:spPr>
        <p:txBody>
          <a:bodyPr>
            <a:normAutofit fontScale="925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 Practices: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source data has no empty rows or columns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consistent category names (e.g., “Male/Female”)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Refresh PivotTables whenever the dataset changes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Mistakes to Avoid: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Editing values inside the PivotTable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Saving PivotTables in CSV format (use </a:t>
            </a:r>
            <a:r>
              <a:rPr lang="en-US" sz="4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.xlsx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instead)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0484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E741C-315D-A390-5462-767D3FCD3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975" y="229997"/>
            <a:ext cx="11729291" cy="849656"/>
          </a:xfrm>
        </p:spPr>
        <p:txBody>
          <a:bodyPr>
            <a:normAutofit/>
          </a:bodyPr>
          <a:lstStyle/>
          <a:p>
            <a:r>
              <a:rPr lang="en-US" sz="5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Homework</a:t>
            </a:r>
            <a:endParaRPr lang="en-US" sz="19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3D351-7AA3-040A-B013-60BAE8B4C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975" y="1079653"/>
            <a:ext cx="11729291" cy="5548350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sz="2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student_performance.csv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Excel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PivotTables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answer the following: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program has the highest average final grade?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attendance relate to at-risk status?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scholarship status influence study hours?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 a screenshot of your best PivotTable and share it in the class WhatsApp group</a:t>
            </a:r>
          </a:p>
          <a:p>
            <a:pPr algn="l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616920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DED9-5D80-C641-DE20-53638CC12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07" y="141862"/>
            <a:ext cx="11872511" cy="684403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Python for Data Analysis</a:t>
            </a:r>
            <a:endParaRPr lang="en-US" sz="14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C0260-282C-CF08-CAF9-484DFFF3E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07" y="922502"/>
            <a:ext cx="5218323" cy="5794871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is preferred because it is:</a:t>
            </a: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Easy to learn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Supported by powerful libraries (</a:t>
            </a:r>
            <a:r>
              <a:rPr lang="en-US" sz="2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Widely used by organizations such as Google, NASA, WHO, and Safaricom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 and open-source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prior programming experience is required.</a:t>
            </a:r>
            <a:endParaRPr lang="en-US" sz="2800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534ED-138B-37B5-DD1E-D8FA6842331B}"/>
              </a:ext>
            </a:extLst>
          </p:cNvPr>
          <p:cNvSpPr txBox="1"/>
          <p:nvPr/>
        </p:nvSpPr>
        <p:spPr>
          <a:xfrm>
            <a:off x="5695720" y="922502"/>
            <a:ext cx="6334698" cy="5316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Notebook – Your Data Lab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Interactive environment for running code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Combines code, text, and visualizations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Excellent for learning and collaboration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Available via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800" i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ideal for low-resource computers.</a:t>
            </a:r>
            <a:endParaRPr lang="en-US" sz="2800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7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6DF3-2533-7A0C-F5A3-1B583178B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805" y="0"/>
            <a:ext cx="11927595" cy="609160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Core Python Libraries Used in This Course</a:t>
            </a:r>
            <a:endParaRPr lang="en-US" sz="138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71D97-968E-B759-F38C-687E6A49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" y="609160"/>
            <a:ext cx="11784377" cy="624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82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FDB4-1325-EAB5-7571-EB1273573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40" y="130845"/>
            <a:ext cx="11850477" cy="805589"/>
          </a:xfrm>
        </p:spPr>
        <p:txBody>
          <a:bodyPr>
            <a:normAutofit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a Data Frame?</a:t>
            </a:r>
            <a:endParaRPr lang="en-US" sz="9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08596-CE60-2229-66F3-D65F38E88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839" y="936433"/>
            <a:ext cx="11850477" cy="5790721"/>
          </a:xfrm>
        </p:spPr>
        <p:txBody>
          <a:bodyPr>
            <a:normAutofit/>
          </a:bodyPr>
          <a:lstStyle/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table of data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 represent observations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 represent variables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 to an Excel worksheet, but programmable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6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('student_performance_week1.csv')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36314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7155-4F25-B965-99AC-6560CB6DF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92" y="218980"/>
            <a:ext cx="11861494" cy="618302"/>
          </a:xfrm>
        </p:spPr>
        <p:txBody>
          <a:bodyPr>
            <a:normAutofit fontScale="90000"/>
          </a:bodyPr>
          <a:lstStyle/>
          <a:p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Descriptive Statistics – The Basics</a:t>
            </a:r>
            <a:endParaRPr lang="en-US" sz="125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F014D-3E56-5406-4A39-8CE9CA453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14" y="837282"/>
            <a:ext cx="4013813" cy="4905894"/>
          </a:xfrm>
        </p:spPr>
        <p:txBody>
          <a:bodyPr>
            <a:normAutofit fontScale="85000"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summary measures include: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and maximum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statistics help describe the distribution of the data.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FD9442-A32F-1606-A8DF-C57B92EB7299}"/>
              </a:ext>
            </a:extLst>
          </p:cNvPr>
          <p:cNvSpPr txBox="1"/>
          <p:nvPr/>
        </p:nvSpPr>
        <p:spPr>
          <a:xfrm>
            <a:off x="4197427" y="837282"/>
            <a:ext cx="4013813" cy="4905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Hands-On Demo – Loading and Inspecting Data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('student_performance_week1.csv')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df.info()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df.describe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steps will be repeated during the lab session.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A51FA-1C01-E234-7270-5D27703528A4}"/>
              </a:ext>
            </a:extLst>
          </p:cNvPr>
          <p:cNvSpPr txBox="1"/>
          <p:nvPr/>
        </p:nvSpPr>
        <p:spPr>
          <a:xfrm>
            <a:off x="8211240" y="837282"/>
            <a:ext cx="3675960" cy="529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the Dataset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student_performance_week1.csv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150 students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Gender, Age, Program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Math_Score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English_Score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Data_Skills_PreTest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Attendance_Pct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Final_Outcome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objective is to identify patterns and relationships.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261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3D6E8-2AAE-6D92-B80F-E6B4A4503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24" y="0"/>
            <a:ext cx="11883528" cy="61694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Definition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A652A7-6448-F2F1-0D5D-0A1EB9D97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21776"/>
              </p:ext>
            </p:extLst>
          </p:nvPr>
        </p:nvGraphicFramePr>
        <p:xfrm>
          <a:off x="205648" y="506777"/>
          <a:ext cx="11883528" cy="6180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9479">
                  <a:extLst>
                    <a:ext uri="{9D8B030D-6E8A-4147-A177-3AD203B41FA5}">
                      <a16:colId xmlns:a16="http://schemas.microsoft.com/office/drawing/2014/main" val="950833221"/>
                    </a:ext>
                  </a:extLst>
                </a:gridCol>
                <a:gridCol w="1954768">
                  <a:extLst>
                    <a:ext uri="{9D8B030D-6E8A-4147-A177-3AD203B41FA5}">
                      <a16:colId xmlns:a16="http://schemas.microsoft.com/office/drawing/2014/main" val="690891476"/>
                    </a:ext>
                  </a:extLst>
                </a:gridCol>
                <a:gridCol w="6259281">
                  <a:extLst>
                    <a:ext uri="{9D8B030D-6E8A-4147-A177-3AD203B41FA5}">
                      <a16:colId xmlns:a16="http://schemas.microsoft.com/office/drawing/2014/main" val="1872207761"/>
                    </a:ext>
                  </a:extLst>
                </a:gridCol>
              </a:tblGrid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Variable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Type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Description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6468872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`Student ID`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ID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Unique identifier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2161022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`Gender`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Categorical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Male/Female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0120755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`Age`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Integer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17–25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682872"/>
                  </a:ext>
                </a:extLst>
              </a:tr>
              <a:tr h="4593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`Program`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Categorical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Computer Science, Education, Business, Nursing, Agriculture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2101220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`Year of Study`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Integer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1–4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447630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`Math Score`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Float (0–100)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Baseline math ability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730523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`English Score`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Float (0–100)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Baseline language ability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6835519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`Data Skill Pre-Test`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Float (0–100)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Prior exposure to data tools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0156153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`Attendance Pct`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Float (0–100)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Class attendance %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112871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`Study Hours Pe Week`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Integer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Self-reported study time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8303874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`Parental Education`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Categorical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None, Secondary, Diploma, Degree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8816114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`Family Income Level`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Categorical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Low, Medium, High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9216206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`Has Internet at Home`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Binary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Yes/No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3168633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`Uses Learning Apps`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Binary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Yes/No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2763306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`Participates in Group Work`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Binary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Yes/No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3183760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`Previous CGPA`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Float (0–5.0)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Cumulative GPA from prior semesters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9387964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`Distance from Campus km`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Float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Commute distance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4314589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`Scholarship Status`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Binary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Yes/No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9056855"/>
                  </a:ext>
                </a:extLst>
              </a:tr>
              <a:tr h="3362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`Final Grade`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Float (0–100)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Target (continuous) – calculated from inputs + noise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8767298"/>
                  </a:ext>
                </a:extLst>
              </a:tr>
              <a:tr h="2834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`At Risk`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Binary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Target (classification)– Final Grade &lt; 50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2519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33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1653</Words>
  <Application>Microsoft Office PowerPoint</Application>
  <PresentationFormat>Widescreen</PresentationFormat>
  <Paragraphs>258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Segoe UI Emoji</vt:lpstr>
      <vt:lpstr>Symbol</vt:lpstr>
      <vt:lpstr>system-ui</vt:lpstr>
      <vt:lpstr>Times New Roman</vt:lpstr>
      <vt:lpstr>Wingdings</vt:lpstr>
      <vt:lpstr>Office Theme</vt:lpstr>
      <vt:lpstr>🔧 Training Outline</vt:lpstr>
      <vt:lpstr>Learning Outcomes </vt:lpstr>
      <vt:lpstr>Concept Covered</vt:lpstr>
      <vt:lpstr>What Is Data Analysis?</vt:lpstr>
      <vt:lpstr>Real-World Impact of Data Analysis</vt:lpstr>
      <vt:lpstr>Data Types, Formats and Structures</vt:lpstr>
      <vt:lpstr>What Is “Good” Data?</vt:lpstr>
      <vt:lpstr>Quality of the Data</vt:lpstr>
      <vt:lpstr>Introduction to Pivot Data Analysis Turning Raw Student Data into Actionable Insights</vt:lpstr>
      <vt:lpstr>Our Dataset – Student Performance (1,500 Records)</vt:lpstr>
      <vt:lpstr>What Is a PivotTable?</vt:lpstr>
      <vt:lpstr>Creating Your First PivotTable</vt:lpstr>
      <vt:lpstr>Common PivotTable Applications</vt:lpstr>
      <vt:lpstr>Using Filters and Slicers</vt:lpstr>
      <vt:lpstr>Identifying At-Risk Students</vt:lpstr>
      <vt:lpstr>Best Practices and Common Mistakes</vt:lpstr>
      <vt:lpstr>Next Steps and Homework</vt:lpstr>
      <vt:lpstr>Introduction to Python for Data Analysis</vt:lpstr>
      <vt:lpstr>Core Python Libraries Used in This Course</vt:lpstr>
      <vt:lpstr>What Is a Data Frame?</vt:lpstr>
      <vt:lpstr>Descriptive Statistics – The Basics</vt:lpstr>
      <vt:lpstr>Variables 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🔧 Training Outline</dc:title>
  <dc:creator>Victor Wandera</dc:creator>
  <cp:lastModifiedBy>Victor Wandera</cp:lastModifiedBy>
  <cp:revision>4</cp:revision>
  <dcterms:created xsi:type="dcterms:W3CDTF">2026-01-27T10:39:58Z</dcterms:created>
  <dcterms:modified xsi:type="dcterms:W3CDTF">2026-01-27T18:05:12Z</dcterms:modified>
</cp:coreProperties>
</file>
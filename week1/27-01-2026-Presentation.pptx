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9" r:id="rId9"/>
    <p:sldId id="268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ABB74-6ABF-F5D8-DAA0-193086F05B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0EE9DD-9956-8913-2D90-08D9CE3DF8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A12BB9-7052-73C7-76DC-A3F53E228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461FA-B1AF-4F97-8E1D-38F3C04B2D1A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E7905-3EEC-925D-0793-10B90B8E2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964615-67FE-6144-2142-CA62F547E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A095D-38B9-4883-8D41-F0A05944C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773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CCD9F-0694-E83F-9F58-51B4D1446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198A2-94EF-6146-8BA5-22996CD064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62DC34-CB7D-5A1D-3F27-C00C7D58F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461FA-B1AF-4F97-8E1D-38F3C04B2D1A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C734EF-090D-0C78-F98F-71BA5DB9A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9A49B3-587F-28D9-95D5-2A9A9F28A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A095D-38B9-4883-8D41-F0A05944C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628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76E89-59BF-FA08-A3C3-E18495A9F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15D573-1D84-8D3E-26D4-3E145CDB4B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EE6551-40C1-2340-69BD-61114B3FD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461FA-B1AF-4F97-8E1D-38F3C04B2D1A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32A602-70AF-5B5A-CFE7-0B91192A5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784CD8-130F-2FB0-2298-7EDAD669A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A095D-38B9-4883-8D41-F0A05944C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781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F2F79-8AE1-8DC4-295C-9CE8510D4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15907-E264-2BB4-DEAE-7529BEDE70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1B63D3-980C-8B53-B3C5-6FF35133B2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D0BD26-D832-FFB2-A546-EAB22F48F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461FA-B1AF-4F97-8E1D-38F3C04B2D1A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B504A3-8D1A-8566-3B7F-2562FC328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E804CF-3365-9DAF-9FEC-5E1D926F2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A095D-38B9-4883-8D41-F0A05944C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241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C089F-9407-D812-ACF9-A5346F295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C65326-3498-59A2-1CE0-7FD0276C9A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80120B-7253-A12A-CD54-76CEA3A2D7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013D78-1986-BA34-DA69-F0C47302F0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AA0E83-5054-9FEE-3766-1CD09EA734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F6C148-0A1A-858A-5399-D596FAB67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461FA-B1AF-4F97-8E1D-38F3C04B2D1A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CB7969-8522-50DF-1483-20D63654D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2C1176-77CE-DFA6-9D74-AE44B14B1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A095D-38B9-4883-8D41-F0A05944C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6943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3E209-59D3-D3C8-50D2-D7C6C4CC5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60E23E-2159-8FB9-8130-319AE2918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461FA-B1AF-4F97-8E1D-38F3C04B2D1A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D03838-01A7-B27C-08CA-7234C9B20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5B9B5C-B057-127D-082E-6BEFFD798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A095D-38B9-4883-8D41-F0A05944C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466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E153F7-1F6B-F44D-7CD2-88508C75D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461FA-B1AF-4F97-8E1D-38F3C04B2D1A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FF559A-B585-7AC2-DEB5-C7528B692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07DCC2-F8F0-5857-54A8-83C39C15E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A095D-38B9-4883-8D41-F0A05944C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602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5FAE1-E0B8-DC22-DDBD-15C71EEC9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207110-008D-3DAC-94C4-4D884ECB5C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1FC040-CA58-21B5-E52C-5E8B84CB12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AC11D2-E15A-31A4-EE72-DA5F848F5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461FA-B1AF-4F97-8E1D-38F3C04B2D1A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CAB9C8-B325-BA8E-57D1-39B55E90F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A388F3-9513-C647-75F0-71E9A52CE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A095D-38B9-4883-8D41-F0A05944C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671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3A6C5-6980-B7BF-5463-7FF922C69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195038-0827-C5A8-EB67-475E646034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709DED-1FF1-F6AC-84F9-137495620E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0E8D87-6702-F415-2A61-7EE694446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461FA-B1AF-4F97-8E1D-38F3C04B2D1A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2F1F57-4ACC-E69B-D24F-B5A6D528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5285B3-ABCE-0D62-C16C-9AE2C9DE8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A095D-38B9-4883-8D41-F0A05944C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883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B9BF0-D2AF-5107-5898-518D98512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12C8E3-8276-8AE3-2336-37C3197EB1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3A263A-3587-B8EC-E900-198D50D54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461FA-B1AF-4F97-8E1D-38F3C04B2D1A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D6625E-9F3C-DB9D-F30B-55772C7D0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2F2DAB-30CC-32FD-FC78-693C7F6A6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A095D-38B9-4883-8D41-F0A05944C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78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F91EF7-9D6B-5EDC-E6E8-06CC3B1EA5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455E79-D930-E573-2997-78C0EB96A3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B36684-5F5A-5532-9555-229666FC7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461FA-B1AF-4F97-8E1D-38F3C04B2D1A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FCA62C-82D4-ACAB-D552-D1B7124F2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EB682-44FD-B6B8-D5E1-AE85EF4CA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A095D-38B9-4883-8D41-F0A05944C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800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9DDD66-3A44-6F42-A2FA-585B470C3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48F18F-33B6-2B12-DF5C-1568B240C8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239D6B-0B49-55A2-A561-7C97BAED9F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6461FA-B1AF-4F97-8E1D-38F3C04B2D1A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8595A9-8C26-3D8D-6FB8-BBA881DA64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7B886A-4809-B199-9297-24DF95CCD3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8A095D-38B9-4883-8D41-F0A05944C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95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AADA7-7255-8540-9203-9D5C825F73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4257" y="131763"/>
            <a:ext cx="9144000" cy="1033008"/>
          </a:xfrm>
        </p:spPr>
        <p:txBody>
          <a:bodyPr>
            <a:normAutofit/>
          </a:bodyPr>
          <a:lstStyle/>
          <a:p>
            <a:r>
              <a:rPr lang="en-US" sz="6000" b="1" kern="1800" dirty="0">
                <a:solidFill>
                  <a:srgbClr val="FF0000"/>
                </a:solidFill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🔧</a:t>
            </a:r>
            <a:r>
              <a:rPr lang="en-US" sz="6000" b="1" kern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Training Outline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03310B-C5C3-7CD4-E755-26E218ADCC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5943" y="1480457"/>
            <a:ext cx="11800114" cy="3755572"/>
          </a:xfrm>
        </p:spPr>
        <p:txBody>
          <a:bodyPr>
            <a:norm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Course:</a:t>
            </a: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Foundations of Data Analysis</a:t>
            </a:r>
            <a:b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Week 1 Theme:</a:t>
            </a: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i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 Raw Data to First Insights</a:t>
            </a:r>
            <a:b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Target Audience:</a:t>
            </a: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Beginners / Mixed-background learners</a:t>
            </a:r>
            <a:b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Delivery Mode:</a:t>
            </a: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Lecture + Live Demo + Hands-on Lab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2082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84D35-85B5-CEE6-9E50-EB016B1A7D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0743" y="99106"/>
            <a:ext cx="11397343" cy="749980"/>
          </a:xfrm>
        </p:spPr>
        <p:txBody>
          <a:bodyPr>
            <a:normAutofit/>
          </a:bodyPr>
          <a:lstStyle/>
          <a:p>
            <a:r>
              <a:rPr lang="en-US" sz="4800" b="1" kern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Learning Outcomes </a:t>
            </a:r>
            <a:endParaRPr lang="en-US" sz="16600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4C0CFE-EBB0-EE54-CA5D-4FFAD0378B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" y="947057"/>
            <a:ext cx="11887200" cy="4310743"/>
          </a:xfrm>
        </p:spPr>
        <p:txBody>
          <a:bodyPr>
            <a:normAutofit lnSpcReduction="10000"/>
          </a:bodyPr>
          <a:lstStyle/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By the end of Week 1, learners will be able to:</a:t>
            </a:r>
            <a:endParaRPr lang="en-US" sz="28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Explain what data analysis is and why it matters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Distinguish between different types and formats of data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Identify common data quality issues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3200" kern="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sz="3200" kern="0" dirty="0" err="1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en-US" sz="3200" kern="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US" sz="3200" kern="0" dirty="0" err="1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US" sz="3200" kern="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 load a CSV dataset</a:t>
            </a:r>
            <a:endParaRPr lang="en-US" sz="3200" kern="100" dirty="0">
              <a:effectLst/>
              <a:highlight>
                <a:srgbClr val="FFFF00"/>
              </a:highlight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3200" kern="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Perform basic data inspection and descriptive statistics using Python</a:t>
            </a:r>
            <a:endParaRPr lang="en-US" sz="3200" kern="100" dirty="0">
              <a:effectLst/>
              <a:highlight>
                <a:srgbClr val="FFFF00"/>
              </a:highlight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3200" kern="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Extract simple, meaningful insights from a real dataset</a:t>
            </a:r>
            <a:endParaRPr lang="en-US" sz="3200" kern="100" dirty="0">
              <a:effectLst/>
              <a:highlight>
                <a:srgbClr val="FFFF00"/>
              </a:highlight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/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698292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887E8-22BF-92BE-2B72-04945EC48D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873" y="97794"/>
            <a:ext cx="11762343" cy="83863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Concept Covered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6A5503-B626-4BFF-BFFE-A6DCC48973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873" y="936433"/>
            <a:ext cx="11762343" cy="5552502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4000" b="0" i="0" dirty="0">
                <a:solidFill>
                  <a:srgbClr val="1D1D1F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What is Data Analysis?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4000" b="0" i="0" dirty="0">
                <a:solidFill>
                  <a:srgbClr val="1D1D1F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Why It Matters in Decision-Making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4000" b="0" i="0" dirty="0">
                <a:solidFill>
                  <a:srgbClr val="1D1D1F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Types of Data: Structured vs. Unstructured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4000" b="0" i="0" dirty="0">
                <a:solidFill>
                  <a:srgbClr val="1D1D1F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Data Quality &amp; Common Issues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4000" b="0" i="0" dirty="0">
                <a:solidFill>
                  <a:srgbClr val="1D1D1F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Python &amp; </a:t>
            </a:r>
            <a:r>
              <a:rPr lang="en-US" sz="4000" b="0" i="0" dirty="0" err="1">
                <a:solidFill>
                  <a:srgbClr val="1D1D1F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endParaRPr lang="en-US" sz="4000" b="0" i="0" dirty="0">
              <a:solidFill>
                <a:srgbClr val="1D1D1F"/>
              </a:solidFill>
              <a:effectLst/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4000" b="0" i="0" dirty="0">
                <a:solidFill>
                  <a:srgbClr val="1D1D1F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Descriptive Statistics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4000" b="0" i="0" dirty="0">
                <a:solidFill>
                  <a:srgbClr val="1D1D1F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Hands-on Lab: Exploring Student Performance Data</a:t>
            </a:r>
          </a:p>
        </p:txBody>
      </p:sp>
    </p:spTree>
    <p:extLst>
      <p:ext uri="{BB962C8B-B14F-4D97-AF65-F5344CB8AC3E}">
        <p14:creationId xmlns:p14="http://schemas.microsoft.com/office/powerpoint/2010/main" val="472921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AE457-B302-5AF9-034C-6DD2327758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875" y="163896"/>
            <a:ext cx="11784376" cy="893724"/>
          </a:xfrm>
        </p:spPr>
        <p:txBody>
          <a:bodyPr>
            <a:normAutofit fontScale="90000"/>
          </a:bodyPr>
          <a:lstStyle/>
          <a:p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What Is Data Analysis?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43A4D9-0A40-F176-7F52-F3DFBDE1ED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875" y="1057620"/>
            <a:ext cx="11784376" cy="5636484"/>
          </a:xfrm>
        </p:spPr>
        <p:txBody>
          <a:bodyPr>
            <a:normAutofit/>
          </a:bodyPr>
          <a:lstStyle/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i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analysis is the process of inspecting, cleaning, transforming, and modeling data to discover useful information, draw conclusions, and support decision-making.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Main goal:</a:t>
            </a: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Convert raw data into meaningful insights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 goes beyond reporting - it involves asking </a:t>
            </a:r>
            <a:r>
              <a:rPr lang="en-US" i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why</a:t>
            </a: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i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if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Data-Driven Decision Cycle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Ask</a:t>
            </a: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Clearly define the problem or question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Collect</a:t>
            </a: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Gather relevant data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Clean</a:t>
            </a: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Address errors and missing values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Summarize, visualize, and model the data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Act</a:t>
            </a: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Make informed decisions and communicate results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i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Universities analyze student data to reduce dropout rates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589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54059-637C-A528-6364-0C879EA124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8471" y="185929"/>
            <a:ext cx="11622795" cy="816606"/>
          </a:xfrm>
        </p:spPr>
        <p:txBody>
          <a:bodyPr>
            <a:normAutofit fontScale="90000"/>
          </a:bodyPr>
          <a:lstStyle/>
          <a:p>
            <a:r>
              <a:rPr lang="en-US" sz="6000" b="1" kern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Real-World Impact of Data Analysis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14EF1A-C06D-886C-6CF3-AA105B4D6A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8471" y="1002535"/>
            <a:ext cx="11622795" cy="5669536"/>
          </a:xfrm>
        </p:spPr>
        <p:txBody>
          <a:bodyPr>
            <a:normAutofit fontScale="92500" lnSpcReduction="10000"/>
          </a:bodyPr>
          <a:lstStyle/>
          <a:p>
            <a:pPr marL="342900" marR="0" lvl="0" indent="-3429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400" kern="0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🏥</a:t>
            </a:r>
            <a:r>
              <a:rPr lang="en-US" sz="4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Healthcare:</a:t>
            </a:r>
            <a:r>
              <a:rPr lang="en-US" sz="4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Predicting disease outbreaks</a:t>
            </a:r>
            <a:endParaRPr lang="en-US" sz="4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400" kern="0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🏦</a:t>
            </a:r>
            <a:r>
              <a:rPr lang="en-US" sz="4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Finance:</a:t>
            </a:r>
            <a:r>
              <a:rPr lang="en-US" sz="4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Real-time fraud detection</a:t>
            </a:r>
            <a:endParaRPr lang="en-US" sz="4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400" kern="0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🌾</a:t>
            </a:r>
            <a:r>
              <a:rPr lang="en-US" sz="4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Agriculture:</a:t>
            </a:r>
            <a:r>
              <a:rPr lang="en-US" sz="4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Crop yield forecasting using satellite data</a:t>
            </a:r>
            <a:endParaRPr lang="en-US" sz="4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400" kern="0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🎓</a:t>
            </a:r>
            <a:r>
              <a:rPr lang="en-US" sz="4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Education:</a:t>
            </a:r>
            <a:r>
              <a:rPr lang="en-US" sz="4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Early identification of at-risk students</a:t>
            </a:r>
            <a:endParaRPr lang="en-US" sz="4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Kenya, data literacy is a </a:t>
            </a:r>
            <a:r>
              <a:rPr lang="en-US" sz="4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national priority</a:t>
            </a:r>
            <a:r>
              <a:rPr lang="en-US" sz="4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under the Digital Economy Blueprint.</a:t>
            </a:r>
            <a:endParaRPr lang="en-US" sz="4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/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3064505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B1E43-220B-D145-015E-C3F20DE34F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856" y="108812"/>
            <a:ext cx="11938613" cy="852616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Types, Formats and Structures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4A51F8-F8A2-2396-58B5-25CE8B0DA0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855" y="1068636"/>
            <a:ext cx="11938613" cy="3114606"/>
          </a:xfrm>
        </p:spPr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three different types of data structures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A2276C8-6091-6835-FBA6-B3DA664CEF06}"/>
              </a:ext>
            </a:extLst>
          </p:cNvPr>
          <p:cNvGraphicFramePr>
            <a:graphicFrameLocks noGrp="1"/>
          </p:cNvGraphicFramePr>
          <p:nvPr/>
        </p:nvGraphicFramePr>
        <p:xfrm>
          <a:off x="124854" y="1600200"/>
          <a:ext cx="5971146" cy="228871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90382">
                  <a:extLst>
                    <a:ext uri="{9D8B030D-6E8A-4147-A177-3AD203B41FA5}">
                      <a16:colId xmlns:a16="http://schemas.microsoft.com/office/drawing/2014/main" val="1016313769"/>
                    </a:ext>
                  </a:extLst>
                </a:gridCol>
                <a:gridCol w="1990382">
                  <a:extLst>
                    <a:ext uri="{9D8B030D-6E8A-4147-A177-3AD203B41FA5}">
                      <a16:colId xmlns:a16="http://schemas.microsoft.com/office/drawing/2014/main" val="1812231458"/>
                    </a:ext>
                  </a:extLst>
                </a:gridCol>
                <a:gridCol w="1990382">
                  <a:extLst>
                    <a:ext uri="{9D8B030D-6E8A-4147-A177-3AD203B41FA5}">
                      <a16:colId xmlns:a16="http://schemas.microsoft.com/office/drawing/2014/main" val="2864915009"/>
                    </a:ext>
                  </a:extLst>
                </a:gridCol>
              </a:tblGrid>
              <a:tr h="4950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Type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98430055"/>
                  </a:ext>
                </a:extLst>
              </a:tr>
              <a:tr h="49507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Structured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Organized in rows and columns</a:t>
                      </a:r>
                      <a:endParaRPr lang="en-US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Excel files, SQL tables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149304"/>
                  </a:ext>
                </a:extLst>
              </a:tr>
              <a:tr h="49507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Unstructured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predefined structure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Emails, images, social media</a:t>
                      </a:r>
                      <a:endParaRPr lang="en-US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81438493"/>
                  </a:ext>
                </a:extLst>
              </a:tr>
              <a:tr h="49507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Semi-structured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Partially organized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JSON, XML</a:t>
                      </a:r>
                      <a:endParaRPr lang="en-US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6274020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8D34E84-615B-C269-EFB9-97DDC8FD597C}"/>
              </a:ext>
            </a:extLst>
          </p:cNvPr>
          <p:cNvSpPr txBox="1"/>
          <p:nvPr/>
        </p:nvSpPr>
        <p:spPr>
          <a:xfrm>
            <a:off x="6731305" y="1492992"/>
            <a:ext cx="5122843" cy="1444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 course focuses primarily on </a:t>
            </a:r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structured data</a:t>
            </a:r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such as CSV files.</a:t>
            </a:r>
            <a:endParaRPr lang="en-US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EE9EAC-FF6E-3333-A05A-F4C8E4025883}"/>
              </a:ext>
            </a:extLst>
          </p:cNvPr>
          <p:cNvSpPr txBox="1"/>
          <p:nvPr/>
        </p:nvSpPr>
        <p:spPr>
          <a:xfrm>
            <a:off x="124855" y="4183242"/>
            <a:ext cx="6097836" cy="25281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Common Data Formats</a:t>
            </a:r>
            <a:endParaRPr lang="en-US" sz="2800" b="1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CSV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2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.csv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– Lightweight and widely supported</a:t>
            </a:r>
            <a:endParaRPr lang="en-US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Excel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2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.xlsx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– Multiple sheets and formulas</a:t>
            </a:r>
            <a:endParaRPr lang="en-US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Common in web APIs</a:t>
            </a:r>
            <a:endParaRPr lang="en-US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Database tables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MySQL, PostgreSQL</a:t>
            </a:r>
            <a:endParaRPr lang="en-US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 begin with </a:t>
            </a:r>
            <a:r>
              <a:rPr lang="en-US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CSV files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due to their simplicity and versatility.</a:t>
            </a:r>
            <a:endParaRPr lang="en-US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051" name="Picture 3" descr="Different Types of Data | Medium">
            <a:extLst>
              <a:ext uri="{FF2B5EF4-FFF2-40B4-BE49-F238E27FC236}">
                <a16:creationId xmlns:a16="http://schemas.microsoft.com/office/drawing/2014/main" id="{53F792E5-A47D-848A-6A73-F01F757B29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2691" y="3018622"/>
            <a:ext cx="5631458" cy="3643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75146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C8029-3DC3-45B6-F8B9-8A7B957171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907" y="119828"/>
            <a:ext cx="11916579" cy="673386"/>
          </a:xfrm>
        </p:spPr>
        <p:txBody>
          <a:bodyPr>
            <a:noAutofit/>
          </a:bodyPr>
          <a:lstStyle/>
          <a:p>
            <a:r>
              <a:rPr lang="en-US" sz="4000" b="1" kern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Is “Good” Data?</a:t>
            </a:r>
            <a:endParaRPr lang="en-US" sz="9600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9C27F9-35EB-71E7-E334-5B7123AF75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793213"/>
            <a:ext cx="5155894" cy="2952522"/>
          </a:xfrm>
        </p:spPr>
        <p:txBody>
          <a:bodyPr>
            <a:normAutofit fontScale="92500" lnSpcReduction="20000"/>
          </a:bodyPr>
          <a:lstStyle/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Good-quality data is: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0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✅</a:t>
            </a: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Accurate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0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✅</a:t>
            </a: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Complete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0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✅</a:t>
            </a: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Consistent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0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✅</a:t>
            </a: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Relevant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Poor-quality data leads to poor decisions </a:t>
            </a:r>
          </a:p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lang="en-US" i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garbage in, garbage out.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/>
            <a:endParaRPr lang="en-US" sz="3200" dirty="0"/>
          </a:p>
        </p:txBody>
      </p:sp>
      <p:pic>
        <p:nvPicPr>
          <p:cNvPr id="3074" name="Picture 2" descr="Why Data Garbage-In means Analytics Garbage-Out.. - Vamsi Talks Tech">
            <a:extLst>
              <a:ext uri="{FF2B5EF4-FFF2-40B4-BE49-F238E27FC236}">
                <a16:creationId xmlns:a16="http://schemas.microsoft.com/office/drawing/2014/main" id="{A766F3C9-487B-A45D-9014-0D72337320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4530" y="758887"/>
            <a:ext cx="5713221" cy="5713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E6AF579-8549-3FE5-234E-9202C870D76E}"/>
              </a:ext>
            </a:extLst>
          </p:cNvPr>
          <p:cNvSpPr txBox="1"/>
          <p:nvPr/>
        </p:nvSpPr>
        <p:spPr>
          <a:xfrm>
            <a:off x="78953" y="3847672"/>
            <a:ext cx="6145577" cy="2624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Common Data Problems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❌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Missing values (</a:t>
            </a:r>
            <a:r>
              <a:rPr lang="en-US" sz="1400" kern="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NaN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❌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Duplicate records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❌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Outliers (e.g., unrealistic ages)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❌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Inconsistent formatting (e.g., “Male”, “M”, “m”)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❌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Incorrect data types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7261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D5007-0FDC-8B05-615B-FF8623E565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4236" y="1"/>
            <a:ext cx="11931268" cy="738129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Quality of the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1A5294-714B-9340-C63B-42AB216038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4236" y="859315"/>
            <a:ext cx="11883528" cy="5713623"/>
          </a:xfrm>
        </p:spPr>
        <p:txBody>
          <a:bodyPr/>
          <a:lstStyle/>
          <a:p>
            <a:pPr algn="l"/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Good Quality Data + Good Quality Model = Good Results 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dirty="0"/>
              <a:t>High-quality data, defined by accuracy, completeness, and consistency, is the critical foundation for data analysis.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dirty="0"/>
              <a:t>This helps in ensuring models learn accurate patterns to produce reliable, trustworthy, and actionable results. 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dirty="0"/>
              <a:t>Combining this with a well-designed, appropriate model prevents, garbage-in, garbage-out scenarios, leading to superior performance and informed decision-making. </a:t>
            </a:r>
          </a:p>
        </p:txBody>
      </p:sp>
      <p:pic>
        <p:nvPicPr>
          <p:cNvPr id="7170" name="Picture 2" descr="Learn Advanced Data Cleaning in R ...">
            <a:extLst>
              <a:ext uri="{FF2B5EF4-FFF2-40B4-BE49-F238E27FC236}">
                <a16:creationId xmlns:a16="http://schemas.microsoft.com/office/drawing/2014/main" id="{0DC13B5C-C6C1-243D-6FD6-88A0142765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236" y="3716126"/>
            <a:ext cx="5852450" cy="2977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Data Quality Considerations for Machine Learning Models | by Andy McDonald  | TDS Archive | Medium">
            <a:extLst>
              <a:ext uri="{FF2B5EF4-FFF2-40B4-BE49-F238E27FC236}">
                <a16:creationId xmlns:a16="http://schemas.microsoft.com/office/drawing/2014/main" id="{01593711-5A5F-0DAC-3462-41F7B07748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6686" y="3716125"/>
            <a:ext cx="6031078" cy="2977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445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0AAF3-B86C-4DB4-9C88-712ADD8E22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9941" y="218980"/>
            <a:ext cx="11894545" cy="132338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Pivot Data Analysis</a:t>
            </a:r>
            <a:b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Turning Raw Student Data into Actionable Insights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CA3DF9F-1F8F-6CD4-8325-855896C7E27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79941" y="2153357"/>
            <a:ext cx="11641711" cy="3724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1D1D1F"/>
                </a:solidFill>
                <a:effectLst/>
                <a:latin typeface="system-ui"/>
              </a:rPr>
              <a:t>Key Points: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1D1D1F"/>
                </a:solidFill>
                <a:effectLst/>
                <a:latin typeface="system-ui"/>
              </a:rPr>
              <a:t>📊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1D1D1F"/>
                </a:solidFill>
                <a:effectLst/>
                <a:latin typeface="system-ui"/>
              </a:rPr>
              <a:t>750+ million users worldwide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1D1D1F"/>
                </a:solidFill>
                <a:effectLst/>
                <a:latin typeface="system-ui"/>
              </a:rPr>
              <a:t> — most common business tool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1D1D1F"/>
                </a:solidFill>
                <a:effectLst/>
                <a:latin typeface="system-ui"/>
              </a:rPr>
              <a:t>💼 Used daily in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1D1D1F"/>
                </a:solidFill>
                <a:effectLst/>
                <a:latin typeface="system-ui"/>
              </a:rPr>
              <a:t>banks, NGOs, universities, and government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1D1D1F"/>
                </a:solidFill>
                <a:effectLst/>
                <a:latin typeface="system-ui"/>
              </a:rPr>
              <a:t> in Kenya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1D1D1F"/>
                </a:solidFill>
                <a:effectLst/>
                <a:latin typeface="system-ui"/>
              </a:rPr>
              <a:t>✅ No coding required — ideal for beginners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1D1D1F"/>
                </a:solidFill>
                <a:effectLst/>
                <a:latin typeface="system-ui"/>
              </a:rPr>
              <a:t>🔧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1D1D1F"/>
                </a:solidFill>
                <a:effectLst/>
                <a:latin typeface="system-ui"/>
              </a:rPr>
              <a:t>PivotTables = instant summaries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1D1D1F"/>
                </a:solidFill>
                <a:effectLst/>
                <a:latin typeface="system-ui"/>
              </a:rPr>
              <a:t> without formulas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1D1D1F"/>
                </a:solidFill>
                <a:effectLst/>
                <a:latin typeface="system-ui"/>
              </a:rPr>
              <a:t>🚀 Foundation for Power BI &amp; Python later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You’ll be job-ready faster by mastering Excel first.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808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9660F-3970-0D5C-BF7A-C4A78FF164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857" y="152879"/>
            <a:ext cx="11927595" cy="772538"/>
          </a:xfrm>
        </p:spPr>
        <p:txBody>
          <a:bodyPr>
            <a:noAutofit/>
          </a:bodyPr>
          <a:lstStyle/>
          <a:p>
            <a:r>
              <a:rPr lang="en-US" sz="40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Our Dataset – Student Performance (1,500 Records)</a:t>
            </a:r>
            <a:endParaRPr lang="en-US" sz="4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081EAEC8-AF74-2354-4264-20D974D205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857" y="1167788"/>
            <a:ext cx="11927595" cy="3657600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What’s in the file?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ID, Gender, Age, Program, Year of Study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Scores: Math, English, Data Skills Pre-Test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Behavioral Metrics: Attendance %, Study Hours/Wee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Background: Family Income, Scholarship Status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Outcomes: Previous CGPA, Final Grade, At Risk of Retaking the Course or Not (Yes/No)</a:t>
            </a:r>
          </a:p>
        </p:txBody>
      </p:sp>
    </p:spTree>
    <p:extLst>
      <p:ext uri="{BB962C8B-B14F-4D97-AF65-F5344CB8AC3E}">
        <p14:creationId xmlns:p14="http://schemas.microsoft.com/office/powerpoint/2010/main" val="34087310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FF5C6-E313-9E1B-3E8E-021D0568DA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909" y="108812"/>
            <a:ext cx="11839460" cy="783555"/>
          </a:xfrm>
        </p:spPr>
        <p:txBody>
          <a:bodyPr>
            <a:normAutofit fontScale="90000"/>
          </a:bodyPr>
          <a:lstStyle/>
          <a:p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What Is a PivotTable?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9DFD70-0DF0-B33D-2F37-DE69D0DF4F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909" y="892367"/>
            <a:ext cx="11839460" cy="5640635"/>
          </a:xfrm>
        </p:spPr>
        <p:txBody>
          <a:bodyPr>
            <a:normAutofit fontScale="92500" lnSpcReduction="20000"/>
          </a:bodyPr>
          <a:lstStyle/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Definition: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PivotTable is an interactive Excel tool that </a:t>
            </a:r>
            <a:r>
              <a:rPr lang="en-US" sz="3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summarizes large datasets</a:t>
            </a: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by grouping, filtering, and calculating values-</a:t>
            </a:r>
            <a:r>
              <a:rPr lang="en-US" sz="3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without writing formulas</a:t>
            </a: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Why it’s powerful: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Drag-and-drop interface</a:t>
            </a:r>
          </a:p>
          <a:p>
            <a:pPr marL="342900" marR="0" lvl="0" indent="-3429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Instantly answer questions like:</a:t>
            </a:r>
          </a:p>
          <a:p>
            <a:pPr marL="742950" marR="0" lvl="1" indent="-28575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“What’s the average Final Grade by Program?”</a:t>
            </a:r>
          </a:p>
          <a:p>
            <a:pPr marL="742950" marR="0" lvl="1" indent="-28575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“How many at-risk students are in Business?”</a:t>
            </a:r>
          </a:p>
          <a:p>
            <a:pPr marL="342900" marR="0" lvl="0" indent="-3429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Updates automatically when data changes</a:t>
            </a:r>
          </a:p>
        </p:txBody>
      </p:sp>
    </p:spTree>
    <p:extLst>
      <p:ext uri="{BB962C8B-B14F-4D97-AF65-F5344CB8AC3E}">
        <p14:creationId xmlns:p14="http://schemas.microsoft.com/office/powerpoint/2010/main" val="11282299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C3D1A-FCA9-1AEE-CDF2-57DD94F0A3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823" y="207963"/>
            <a:ext cx="11894545" cy="805589"/>
          </a:xfrm>
        </p:spPr>
        <p:txBody>
          <a:bodyPr>
            <a:noAutofit/>
          </a:bodyPr>
          <a:lstStyle/>
          <a:p>
            <a:r>
              <a:rPr lang="en-US" sz="4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Creating Your First PivotTable</a:t>
            </a:r>
            <a:endParaRPr lang="en-US" sz="13800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6C81D2-83FB-106C-D7BC-11C525CA34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5422" y="1255923"/>
            <a:ext cx="11611778" cy="5056742"/>
          </a:xfrm>
        </p:spPr>
        <p:txBody>
          <a:bodyPr>
            <a:normAutofit fontScale="92500" lnSpcReduction="10000"/>
          </a:bodyPr>
          <a:lstStyle/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Instructions:</a:t>
            </a:r>
            <a:endParaRPr lang="en-US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Open student performance.csv in </a:t>
            </a:r>
            <a:r>
              <a:rPr lang="en-US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Excel</a:t>
            </a:r>
            <a:endParaRPr lang="en-US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Select </a:t>
            </a:r>
            <a:r>
              <a:rPr lang="en-US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any cell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 the data</a:t>
            </a:r>
          </a:p>
          <a:p>
            <a:pPr marL="342900" marR="0" lvl="0" indent="-3429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Go to </a:t>
            </a:r>
            <a:r>
              <a:rPr lang="en-US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Insert → PivotTable → OK</a:t>
            </a:r>
            <a:endParaRPr lang="en-US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 the PivotTable Fields pane:</a:t>
            </a:r>
          </a:p>
          <a:p>
            <a:pPr marL="742950" marR="0" lvl="1" indent="-28575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Drag </a:t>
            </a:r>
            <a:r>
              <a:rPr lang="en-US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Program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to </a:t>
            </a:r>
            <a:r>
              <a:rPr lang="en-US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Rows</a:t>
            </a:r>
            <a:endParaRPr lang="en-US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Drag </a:t>
            </a:r>
            <a:r>
              <a:rPr lang="en-US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Final Grade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to </a:t>
            </a:r>
            <a:r>
              <a:rPr lang="en-US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Values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(it will default to </a:t>
            </a:r>
            <a:r>
              <a:rPr lang="en-US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Average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✅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You now see </a:t>
            </a:r>
            <a:r>
              <a:rPr lang="en-US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average final grade per program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!</a:t>
            </a:r>
          </a:p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Tip: Right-click any value → “Value Field Settings” to change from Average to Count, Sum, etc.</a:t>
            </a:r>
            <a:endParaRPr lang="en-US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97629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0AAF5-3833-E475-ADF4-FC75CD6E0A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73813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PivotTable Applications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FC5D5A-644C-6DBC-E7DF-596DE5F09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848299"/>
            <a:ext cx="12192000" cy="440950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PivotTables can answer common analytical questions quickly: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867E592-7012-CB40-14F0-A78987D6B65F}"/>
              </a:ext>
            </a:extLst>
          </p:cNvPr>
          <p:cNvGraphicFramePr>
            <a:graphicFrameLocks noGrp="1"/>
          </p:cNvGraphicFramePr>
          <p:nvPr/>
        </p:nvGraphicFramePr>
        <p:xfrm>
          <a:off x="231353" y="1344058"/>
          <a:ext cx="11743982" cy="478317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871991">
                  <a:extLst>
                    <a:ext uri="{9D8B030D-6E8A-4147-A177-3AD203B41FA5}">
                      <a16:colId xmlns:a16="http://schemas.microsoft.com/office/drawing/2014/main" val="2659638181"/>
                    </a:ext>
                  </a:extLst>
                </a:gridCol>
                <a:gridCol w="5871991">
                  <a:extLst>
                    <a:ext uri="{9D8B030D-6E8A-4147-A177-3AD203B41FA5}">
                      <a16:colId xmlns:a16="http://schemas.microsoft.com/office/drawing/2014/main" val="3026253683"/>
                    </a:ext>
                  </a:extLst>
                </a:gridCol>
              </a:tblGrid>
              <a:tr h="74914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Analytical Question</a:t>
                      </a:r>
                      <a:endParaRPr lang="en-US" sz="3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PivotTable Configuration</a:t>
                      </a:r>
                      <a:endParaRPr lang="en-US" sz="3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24312184"/>
                  </a:ext>
                </a:extLst>
              </a:tr>
              <a:tr h="74914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 of students per program</a:t>
                      </a:r>
                      <a:endParaRPr lang="en-US" sz="3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Rows: Program; Values: Student’s previous GPA</a:t>
                      </a:r>
                      <a:endParaRPr lang="en-US" sz="3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55400004"/>
                  </a:ext>
                </a:extLst>
              </a:tr>
              <a:tr h="74914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 attendance by gender</a:t>
                      </a:r>
                      <a:endParaRPr lang="en-US" sz="3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Rows: Gender; Values: Attendance Pct (Average)</a:t>
                      </a:r>
                      <a:endParaRPr lang="en-US" sz="3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25166018"/>
                  </a:ext>
                </a:extLst>
              </a:tr>
              <a:tr h="74914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Percentage of at-risk students by income level</a:t>
                      </a:r>
                      <a:endParaRPr lang="en-US" sz="3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Rows: Family Income Level; Values: At Risk (Average × 100)</a:t>
                      </a:r>
                      <a:endParaRPr lang="en-US" sz="3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5025258"/>
                  </a:ext>
                </a:extLst>
              </a:tr>
              <a:tr h="74914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 study hours by scholarship status</a:t>
                      </a:r>
                      <a:endParaRPr lang="en-US" sz="3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Rows: Scholarship Status; Values: Study Hours Per Week</a:t>
                      </a:r>
                      <a:endParaRPr lang="en-US" sz="3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135831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30514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400F1-F6BB-E96A-0577-AA967FC735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925" y="128971"/>
            <a:ext cx="11828444" cy="662370"/>
          </a:xfrm>
        </p:spPr>
        <p:txBody>
          <a:bodyPr>
            <a:normAutofit fontScale="90000"/>
          </a:bodyPr>
          <a:lstStyle/>
          <a:p>
            <a:r>
              <a:rPr lang="en-US" sz="4400" b="1" kern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Using Filters and Slicers</a:t>
            </a:r>
            <a:endParaRPr lang="en-US" sz="14900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55F602-9766-2366-1E49-CF9E02871A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925" y="958467"/>
            <a:ext cx="11740309" cy="4299333"/>
          </a:xfrm>
        </p:spPr>
        <p:txBody>
          <a:bodyPr>
            <a:normAutofit fontScale="92500"/>
          </a:bodyPr>
          <a:lstStyle/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PivotTables become more powerful when interactivity is added.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sz="3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Report Filters</a:t>
            </a: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 filter data by variables such as Year of Study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Insert </a:t>
            </a:r>
            <a:r>
              <a:rPr lang="en-US" sz="3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Slicers</a:t>
            </a: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 visually filter by Gender, Program, or At-Risk status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Combine multiple PivotTables and slicers to create interactive dashboards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200" i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 approach mirrors professional Excel dashboards used by decision-makers.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/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6354219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38166-672D-8EB8-7760-8C25935B2F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2991" y="196946"/>
            <a:ext cx="11740309" cy="651353"/>
          </a:xfrm>
        </p:spPr>
        <p:txBody>
          <a:bodyPr>
            <a:normAutofit fontScale="90000"/>
          </a:bodyPr>
          <a:lstStyle/>
          <a:p>
            <a:r>
              <a:rPr lang="en-US" sz="4400" b="1" kern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Identifying At-Risk Students</a:t>
            </a:r>
            <a:endParaRPr lang="en-US" sz="14900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D686E6-DAE1-B43A-6E2A-6852B290F4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2991" y="1046601"/>
            <a:ext cx="11740309" cy="5365215"/>
          </a:xfrm>
        </p:spPr>
        <p:txBody>
          <a:bodyPr>
            <a:normAutofit fontScale="92500" lnSpcReduction="10000"/>
          </a:bodyPr>
          <a:lstStyle/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analyze student risk patterns, create the following PivotTable: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lvl="0" indent="-4572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Rows: Program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lvl="0" indent="-4572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Columns: Family Income Level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lvl="0" indent="-4572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Values: </a:t>
            </a:r>
            <a:r>
              <a:rPr lang="en-US" sz="32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At_Risk</a:t>
            </a: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(Average)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lvl="0" indent="-4572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Format results as percentages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insight:</a:t>
            </a:r>
            <a:b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Students from </a:t>
            </a:r>
            <a:r>
              <a:rPr lang="en-US" sz="3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low-income backgrounds</a:t>
            </a: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particularly in </a:t>
            </a:r>
            <a:r>
              <a:rPr lang="en-US" sz="3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Education and Agriculture programs</a:t>
            </a: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exhibit higher risk levels and may require targeted support.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200" i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 demonstrates data-driven decision-making.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/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255010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B5A10-5A96-EC6C-EEC2-51B498C243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9913" y="274064"/>
            <a:ext cx="11652173" cy="684403"/>
          </a:xfrm>
        </p:spPr>
        <p:txBody>
          <a:bodyPr>
            <a:normAutofit/>
          </a:bodyPr>
          <a:lstStyle/>
          <a:p>
            <a:r>
              <a:rPr lang="en-US" sz="4000" b="1" kern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Best Practices and Common Mistakes</a:t>
            </a:r>
            <a:endParaRPr lang="en-US" sz="11500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66F082-8A6A-9882-72E5-AA00DB2B91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913" y="1156771"/>
            <a:ext cx="11652173" cy="5288096"/>
          </a:xfrm>
        </p:spPr>
        <p:txBody>
          <a:bodyPr>
            <a:normAutofit fontScale="92500"/>
          </a:bodyPr>
          <a:lstStyle/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Best Practices: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Ensure source data has no empty rows or columns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 consistent category names (e.g., “Male/Female”)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Refresh PivotTables whenever the dataset changes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Common Mistakes to Avoid: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Editing values inside the PivotTable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Saving PivotTables in CSV format (use </a:t>
            </a:r>
            <a:r>
              <a:rPr lang="en-US" sz="40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.xlsx</a:t>
            </a: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instead)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/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2204849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E741C-315D-A390-5462-767D3FCD33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975" y="229997"/>
            <a:ext cx="11729291" cy="849656"/>
          </a:xfrm>
        </p:spPr>
        <p:txBody>
          <a:bodyPr>
            <a:normAutofit/>
          </a:bodyPr>
          <a:lstStyle/>
          <a:p>
            <a:r>
              <a:rPr lang="en-US" sz="5400" b="1" kern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Next Steps and Homework</a:t>
            </a:r>
            <a:endParaRPr lang="en-US" sz="19900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13D351-7AA3-040A-B013-60BAE8B4C7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1975" y="1079653"/>
            <a:ext cx="11729291" cy="5548350"/>
          </a:xfrm>
        </p:spPr>
        <p:txBody>
          <a:bodyPr>
            <a:normAutofit/>
          </a:bodyPr>
          <a:lstStyle/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Assignment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Open </a:t>
            </a:r>
            <a:r>
              <a:rPr lang="en-US" sz="20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student_performance.csv</a:t>
            </a: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 Excel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 </a:t>
            </a:r>
            <a:r>
              <a:rPr lang="en-US" sz="3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three PivotTables</a:t>
            </a: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 answer the following: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Which program has the highest average final grade?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does attendance relate to at-risk status?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does scholarship status influence study hours?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Take a screenshot of your best PivotTable and share it in the class WhatsApp group</a:t>
            </a:r>
          </a:p>
          <a:p>
            <a:pPr algn="l"/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3616920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1164</Words>
  <Application>Microsoft Office PowerPoint</Application>
  <PresentationFormat>Widescreen</PresentationFormat>
  <Paragraphs>151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Arial</vt:lpstr>
      <vt:lpstr>Calibri</vt:lpstr>
      <vt:lpstr>Calibri Light</vt:lpstr>
      <vt:lpstr>Courier New</vt:lpstr>
      <vt:lpstr>Segoe UI Emoji</vt:lpstr>
      <vt:lpstr>Symbol</vt:lpstr>
      <vt:lpstr>system-ui</vt:lpstr>
      <vt:lpstr>Times New Roman</vt:lpstr>
      <vt:lpstr>Wingdings</vt:lpstr>
      <vt:lpstr>Office Theme</vt:lpstr>
      <vt:lpstr>🔧 Training Outline</vt:lpstr>
      <vt:lpstr>Learning Outcomes </vt:lpstr>
      <vt:lpstr>Concept Covered</vt:lpstr>
      <vt:lpstr>What Is Data Analysis?</vt:lpstr>
      <vt:lpstr>Real-World Impact of Data Analysis</vt:lpstr>
      <vt:lpstr>Data Types, Formats and Structures</vt:lpstr>
      <vt:lpstr>What Is “Good” Data?</vt:lpstr>
      <vt:lpstr>Quality of the Data</vt:lpstr>
      <vt:lpstr>Introduction to Pivot Data Analysis Turning Raw Student Data into Actionable Insights</vt:lpstr>
      <vt:lpstr>Our Dataset – Student Performance (1,500 Records)</vt:lpstr>
      <vt:lpstr>What Is a PivotTable?</vt:lpstr>
      <vt:lpstr>Creating Your First PivotTable</vt:lpstr>
      <vt:lpstr>Common PivotTable Applications</vt:lpstr>
      <vt:lpstr>Using Filters and Slicers</vt:lpstr>
      <vt:lpstr>Identifying At-Risk Students</vt:lpstr>
      <vt:lpstr>Best Practices and Common Mistakes</vt:lpstr>
      <vt:lpstr>Next Steps and Homework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🔧 Training Outline</dc:title>
  <dc:creator>Victor Wandera</dc:creator>
  <cp:lastModifiedBy>Victor Wandera</cp:lastModifiedBy>
  <cp:revision>1</cp:revision>
  <dcterms:created xsi:type="dcterms:W3CDTF">2026-01-27T16:06:49Z</dcterms:created>
  <dcterms:modified xsi:type="dcterms:W3CDTF">2026-01-27T16:07:11Z</dcterms:modified>
</cp:coreProperties>
</file>
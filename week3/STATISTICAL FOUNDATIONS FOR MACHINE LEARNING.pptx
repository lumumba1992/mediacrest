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7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C2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>
        <p:scale>
          <a:sx n="58" d="100"/>
          <a:sy n="58" d="100"/>
        </p:scale>
        <p:origin x="98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1F571-0299-4806-B2BA-F2035F0D256E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55F76-6045-487B-BA4A-4B10AD59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24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55F76-6045-487B-BA4A-4B10AD59F4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39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A6BA0-1A39-5FDA-7178-3B43091C9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8AD12-7460-A097-7515-EE966B9C3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33FE2-D4CE-FAE4-1212-5F2DBB79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9E072-FFA7-0B1E-F985-CB06C504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7C0B9-87D6-EEA8-5125-1DF8BAFF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7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BC449-22B8-F0B1-1331-0709B76B7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C1F1B-46E7-F4DC-3E64-6F6C044E3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EA757-F6D4-BC88-E70C-3BC50E511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792AE-1B7A-1BF3-7B69-174DBCE82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1B3B2-9C0D-BFF8-DCA9-4ACC8766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5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E4B9-EBBC-6719-1BAB-62AC020E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31511-E42E-83B1-2E25-0AAD0CBC1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C73F6-8F1C-CF16-2B27-D49147CE2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56CA2-120E-A37D-FEFA-3B23E8E1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AB5F9-07EE-4C5B-6A2C-2AC15CB7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42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5637-CC55-B716-02C0-39743516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BBB55-C971-E2C8-4774-ED330D07A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49454-8874-5D7D-E954-33F092552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13838-91C7-F7E4-6B79-F94410889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34E63-1C0E-2731-C2CC-2FE3F133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45D2E-05DC-0B55-3DA5-6D53BC7E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5118-E35D-7F29-2D74-5D784BBF8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C3B9-88AC-7E5E-B0C0-A9BDC6B9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1F2D2-5030-EFB4-4C96-0D1C284F1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880E10-0B0B-8AB2-79B8-4C7708FF5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36B6F-8CC2-CAC2-E936-97FC03073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2C1176-6C94-E91F-3379-724226A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D20C13-DDB1-D2EA-2453-1AEE0578E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203BE-8C1F-C2B5-5BA3-A9C5D5CD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3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5906-B453-A3EF-8A04-65DCAE2C0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91FE0-CE89-380A-A7CD-B1CCDBDA2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5CB894-5CDB-7B8A-26AC-5FCEAA224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64FDC-94C6-B12A-3C75-5E4851AE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3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D70976-5EBE-34ED-C6A4-486BFE47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BD4D7A-92A0-61AF-778C-F44E753BC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78BD0-5B0C-DFBE-AA5E-6254B810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2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3BC4C-9D7E-E7A7-E87D-C5278426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8CAB1-741D-4F90-0E74-CA1E15B85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70984-C603-9169-FA2F-3087B207B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C70CE-C6D9-232D-FA12-84F69863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EC259-CD08-83BB-BADF-D00C1969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5D7B3-2A8A-B723-BCE4-A980274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87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E25F7-6AA9-83E7-497D-36232019A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D466BB-4D67-7221-A388-2ACE16F00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C7BEB-67D3-B55D-9D3B-8657EC6CD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CCB62-C2FE-7C26-36B9-C301F57D3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B8DA9-8B16-57E7-7AC1-B9DCE1E71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C2096-746E-7039-CCB1-F7A11F47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73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5FC9-E4AB-0F58-7B5A-42F64B73B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45F39-C670-FC36-E093-270E69F20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7E87C-2900-52E4-1AD3-A1F05221F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E9E20-B19A-2E4D-6CF9-75ABE1D65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F2B7D-465B-C949-D037-F3B7E4642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68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336B5-E460-75D0-6929-A3840D4D3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8112-218B-6281-0BC3-D1F0B2DC4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81DDF-9BC6-C9D2-FB49-393DE1DF2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26B4E-848F-667C-DE56-C13EDA623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9BA79-12DF-6B90-F34F-ACDD5A1EA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3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6A04B1-12B0-4C7A-5B67-8286FE57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467BB-7DF7-E11A-9C2E-E47BF99F4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B5EA8-DBFF-3279-131D-25A1BD04A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65F43-E8BD-4DDE-960E-2394F033622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22388-CEF7-C1F5-BB99-E22444DD8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3E593-6042-522A-EBE8-C49A76A76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7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F03A-98ED-6870-F0B6-4362AD15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94744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n-US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STATISTICAL FOUNDATIONS FOR MACHINE LEARNING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BE9CD-EE28-A2EB-55EA-4F4F0ACEF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4744"/>
            <a:ext cx="12192000" cy="536325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b="1" i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b="1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 Testing and Regression Analysis</a:t>
            </a:r>
            <a:endParaRPr lang="en-US" sz="3600" b="1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b="1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Course: Foundations of Data Analysis (Group A)</a:t>
            </a: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800" b="1" kern="0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Mediacrest Training College</a:t>
            </a:r>
            <a:endParaRPr lang="en-US" sz="4800" b="1" kern="100" dirty="0">
              <a:solidFill>
                <a:schemeClr val="accent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Trainer: Victor Lumumba Wandera</a:t>
            </a:r>
            <a:endParaRPr lang="en-US" sz="32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3200" b="1" kern="0" baseline="30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Feb 2026</a:t>
            </a:r>
            <a:r>
              <a:rPr 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-11</a:t>
            </a:r>
            <a:r>
              <a:rPr lang="en-US" sz="3200" b="1" kern="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Feb 2026</a:t>
            </a:r>
            <a:endParaRPr lang="en-US" sz="32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Dataset: Hypertension Clinical Cohort (htn_dat.csv)</a:t>
            </a:r>
            <a:endParaRPr lang="en-US" sz="3200" b="1" i="1" kern="0" dirty="0">
              <a:solidFill>
                <a:schemeClr val="accent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600" b="1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Bridge Module to Week 3 Machine Learning</a:t>
            </a:r>
            <a:endParaRPr lang="en-US" sz="36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65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11087-7EAF-F4C1-D0D9-A42C15133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118"/>
            <a:ext cx="12191999" cy="795576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Statistics Before Machine Learning?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8A577-B89B-9853-8B49-321FEEC81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8458"/>
            <a:ext cx="12191999" cy="6139542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is applied statistics at scale. </a:t>
            </a: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statistical foundations: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 testing for decision-making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for prediction and inference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p-values and confidence intervals for uncertainty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Healthcare relevance in Kenya:</a:t>
            </a: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for hypertension risk prediction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Survival analysis for HIV treatment outcomes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Statistics ensures transparent and responsible AI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message:</a:t>
            </a: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without statistics becomes a black box.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78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4A65-B586-5FD6-FEF3-2139F42C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05079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97A41-337A-7142-256C-B22678203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5078"/>
            <a:ext cx="12191999" cy="6152921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the end of this session, you will be able to:</a:t>
            </a:r>
            <a:endParaRPr lang="en-US" sz="40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Formulate and test statistical hypotheses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 regression coefficients correctly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Apply OLS regression for continuous outcomes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Apply logistic regression for binary outcomes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Evaluate models using R², accuracy, and AUC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 regression concepts to ML algorithms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62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92CB5-2F7C-E493-7148-7C2A8ABCD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13552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155D8-BAD0-D9DE-D27F-41C1B5766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3552"/>
            <a:ext cx="12192000" cy="584444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Dataset: htn_dat.csv</a:t>
            </a: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Records: 4,900 patients from Kenyan health facilities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Outcome variables:</a:t>
            </a: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SBP (continuous systolic blood pressure)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SBP_ge120 (binary hypertension indicator)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24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Predictor variables:</a:t>
            </a: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Age, BMI, DBP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Gender, marital status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Urban clinic indicator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HIV and ART status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Research question:</a:t>
            </a: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factors significantly predict hypertension risk?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10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A2A0-FB7A-16C5-4072-1B7D6064E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0629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Hypothesis Testing?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E4BCC-C39C-A526-D04D-F8CA7C40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80628"/>
            <a:ext cx="5028310" cy="6077371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850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 testing evaluates claims about population parameters.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 hypothesis (H₀):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effect or no relationship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Alternative hypothesis (H₁):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effect or relationship exists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H₀: BMI is not associated with hypertension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H₁: BMI is associated with hypertension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tatistical Hypothesis Testing step by ...">
            <a:extLst>
              <a:ext uri="{FF2B5EF4-FFF2-40B4-BE49-F238E27FC236}">
                <a16:creationId xmlns:a16="http://schemas.microsoft.com/office/drawing/2014/main" id="{7BBCA563-700D-B01D-536B-A2CF4E5BB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310" y="1076115"/>
            <a:ext cx="7163690" cy="474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18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AC4E8-A737-6484-D41E-3979EBF68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655504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Rule in Hypothesis Testing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C187B-3AA4-8423-E76B-4EA33FD1E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5504"/>
            <a:ext cx="4054207" cy="620249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850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based on p-value: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&lt; 0.05 → Reject H₀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≥ 0.05 → Fail to reject H₀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0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Important principle: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do not "accept" the null hypothesis.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only reject or fail to reject it.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Decision rules for test of hypothesis about an unknown mean using an estimated variance.">
            <a:extLst>
              <a:ext uri="{FF2B5EF4-FFF2-40B4-BE49-F238E27FC236}">
                <a16:creationId xmlns:a16="http://schemas.microsoft.com/office/drawing/2014/main" id="{07FDCE45-7EA3-9A74-E491-489D11205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494" y="681037"/>
            <a:ext cx="8164602" cy="5521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76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8E0F-3D80-F9A7-1A4C-6C76DDEA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502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Understanding p-values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08F61-45C1-6DA2-492B-F132A0982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0502"/>
            <a:ext cx="5188945" cy="587749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850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p-value measures evidence against the null hypothesis.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Probability of observing the data (or more extreme)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assuming the null hypothesis is true. 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Small p-value → Strong evidence against H₀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Large p-value → Weak evidence against H₀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25A59B9-5AF4-1873-A0B9-BC3F3DE9E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945" y="980502"/>
            <a:ext cx="7003055" cy="566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876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91456-96D2-BF8E-E7DF-C6A2AC634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903384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Medical Example of a p-value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6176D-4CD0-CEA2-ABFF-3386F85DA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03384"/>
            <a:ext cx="12191998" cy="5954616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kern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₀</a:t>
            </a: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Mean SBP is equal in urban and rural clinics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kern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₁</a:t>
            </a: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Mean SBP differs between clinics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= 0.003</a:t>
            </a:r>
            <a:endParaRPr lang="en-US" sz="3600" kern="0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p-value is compared with alpha (5% (0.05), 10%(0.1), 1%(0.01)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is strong evidence that clinic location is associated with systolic blood pressure.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51066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59A1C-93FF-3D26-B977-9521372BA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82197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Confidence Interval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AAB30-ED5B-1B8A-C3D8-3015B5EAB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2198"/>
            <a:ext cx="4207639" cy="6075801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confidence interval provides a range of plausible values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population parameter. </a:t>
            </a: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95% confidence interval: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the study were repeated many times,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95% of such intervals would contain the true value.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Confidence intervals show: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Effect size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Precision of estimates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5338649-6948-E8D7-A9BC-946EBCE19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638" y="1035586"/>
            <a:ext cx="7734646" cy="333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0854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9E026-003F-133E-EB9A-7CB1F117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7976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Confidence Interval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EBF4A-32DF-5E39-4C46-1009A4659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7976"/>
            <a:ext cx="4263528" cy="5880024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850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 SBP difference (urban – rural) = 4.2 mmHg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95% CI: [2.1, 6.3] mmHg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true SBP difference lies within this range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 does not include zero → statistically significant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Provides more information than p-value alone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2734F12-66FC-4869-EACE-B0A7EC5BA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286" y="977976"/>
            <a:ext cx="7417110" cy="536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198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6FFF-E8C7-C124-9840-E2B19410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947451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Choosing the Right Statistical 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8376C-5CE0-E995-7C33-C28EBADF5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7450"/>
            <a:ext cx="12192000" cy="5910549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selection depends on variable types: 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means → Independent t-test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 than two means → ANOVA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categorical variables → Chi-square test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continuous variables → Correlation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Continuous outcome → OLS regression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Binary outcome → Logistic regression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903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A decision tree for choosing the right statistical test">
            <a:extLst>
              <a:ext uri="{FF2B5EF4-FFF2-40B4-BE49-F238E27FC236}">
                <a16:creationId xmlns:a16="http://schemas.microsoft.com/office/drawing/2014/main" id="{DB7C731E-2F0A-E9D0-FC5D-E69B41F0A2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36" y="209320"/>
            <a:ext cx="11788049" cy="66304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363940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A0D3-64E4-724E-73A7-2365DA411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870333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to Regression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95B9E-B7C6-D3B1-D6D6-D1C7803D5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0332"/>
            <a:ext cx="3922006" cy="5987668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models the relationship between predictors (X)</a:t>
            </a:r>
            <a:r>
              <a:rPr lang="en-US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an outcome variable (Y).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General form: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β₀ + β₁X₁ + β₂X₂ + ... + ε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is the foundation of many ML algorithms.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73EC909-84C9-DA0D-CBD2-86B931987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006" y="1057620"/>
            <a:ext cx="8042311" cy="580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634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BC08C-95A9-8434-468D-D316C36E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1517"/>
          </a:xfrm>
          <a:solidFill>
            <a:schemeClr val="accent1"/>
          </a:solidFill>
        </p:spPr>
        <p:txBody>
          <a:bodyPr/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Ordinary Least Squares (OLS)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BA57F-391A-202C-6FFC-DEE2A43D4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60" y="991518"/>
            <a:ext cx="4127653" cy="5185445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 regression predicts continuous outcomes.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Medical application: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 systolic blood pressure using: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 minimizes the sum of squared prediction errors.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65BEBD3-5561-6160-6820-15DA3E438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713" y="1099086"/>
            <a:ext cx="7550226" cy="575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55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681C-0E84-A91A-8739-14BCB4357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13552"/>
          </a:xfrm>
          <a:solidFill>
            <a:schemeClr val="accent1"/>
          </a:solidFill>
        </p:spPr>
        <p:txBody>
          <a:bodyPr/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Interpreting OLS Coefficients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ECE3E-E85F-A4B2-C0A8-9E663A14A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371" y="925418"/>
            <a:ext cx="11111429" cy="5251545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Coefficient interpretation: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 (+/–): Direction of relationship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Magnitude: Size of effect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p-value: Statistical significance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BMI coefficient of 0.87 means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SBP increases by 0.87 mmHg per unit BMI increase,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holding other variables constant.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793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1084-B22A-DAC3-B4A4-F92444883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760163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Fit in OLS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1884C-FCEB-9320-72C2-95D21B319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870333"/>
            <a:ext cx="4384713" cy="5306630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evaluation metrics: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R²: Proportion of variance explained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RMSE: Prediction error magnitude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MAE: Average absolute error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R² does not imply causation,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 explanatory power.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90AE34-ECE9-AFD8-655A-9391585FF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966" y="852127"/>
            <a:ext cx="7476781" cy="532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403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44C8-1E4A-9903-E3B4-FD65C41A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914399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 Assumptions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4A780-21A2-1801-5C76-A47691549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434" y="914400"/>
            <a:ext cx="4985132" cy="5809829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 regression assumptions: 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Linearity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Independence of observations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Homoscedasticity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Normality of residuals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No multicollinearity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Violations require transformations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alternative modeling approaches.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OLS Regression Assumptions *** | Bruce Ratner, PhD">
            <a:extLst>
              <a:ext uri="{FF2B5EF4-FFF2-40B4-BE49-F238E27FC236}">
                <a16:creationId xmlns:a16="http://schemas.microsoft.com/office/drawing/2014/main" id="{9666AE19-B647-A941-B010-C22A9803B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566" y="914400"/>
            <a:ext cx="6858000" cy="580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727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B81B8-39BC-CE09-5E43-B1F6B06F0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Analysis</a:t>
            </a:r>
          </a:p>
        </p:txBody>
      </p:sp>
    </p:spTree>
    <p:extLst>
      <p:ext uri="{BB962C8B-B14F-4D97-AF65-F5344CB8AC3E}">
        <p14:creationId xmlns:p14="http://schemas.microsoft.com/office/powerpoint/2010/main" val="110029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517B-B093-E89F-9FEE-2468AC61E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602"/>
            <a:ext cx="12192000" cy="791646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C3434-4605-68E8-1AAA-3CAB46DAB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990600"/>
            <a:ext cx="4669971" cy="5502275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is used when the outcome is binary.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-4572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Medical application: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-4572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 hypertension (yes/no)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models log-odds,</a:t>
            </a:r>
            <a:r>
              <a:rPr lang="en-US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probabilities directly.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E94679-ADAB-7297-1B64-9E06E0534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8570" y="815249"/>
            <a:ext cx="7293430" cy="60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661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5492-D0A6-9BD5-338F-F3F50E38E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1349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Equation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27FC4-A398-62C4-66AE-7531144D8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450" y="881349"/>
            <a:ext cx="4518752" cy="5684704"/>
          </a:xfrm>
        </p:spPr>
        <p:txBody>
          <a:bodyPr>
            <a:normAutofit fontScale="925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Logit model: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log(p / (1 – p)) = β₀ + β₁X₁ + β₂X₂ + ...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= probability of the event occurring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ensures predictions lie between 0 and 1.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4CFF1-026C-BBF4-027C-84DE599CE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881349"/>
            <a:ext cx="7391400" cy="2808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5211AA-15CF-0EE2-BD89-1A3479105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23701"/>
            <a:ext cx="7391400" cy="313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622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87D46-D8E5-889D-E508-F069D5468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826265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Interpreting Logistic Regression 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D9503-982F-F4AB-7FFC-9402CD5C7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64" y="716096"/>
            <a:ext cx="3702979" cy="6008132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interpretations:</a:t>
            </a: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Coefficients → Change in log-odds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Odds ratios (e^β) → Multiplicative change in odds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Odds ratio &gt; 1 → Increased odds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Odds ratio &lt; 1 → Decreased odds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9182AB6-4570-1ECA-FEC8-55F102262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543" y="1212396"/>
            <a:ext cx="8281476" cy="479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674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6CB1-A6E4-B4A3-3B57-6088A52FE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5247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C1EAA-405A-AE93-720C-4B9CEBEEA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59" y="892366"/>
            <a:ext cx="4204771" cy="5743729"/>
          </a:xfrm>
        </p:spPr>
        <p:txBody>
          <a:bodyPr>
            <a:normAutofit fontScale="77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Advanced HIV status:</a:t>
            </a:r>
            <a:endParaRPr lang="en-US" sz="4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Odds ratio = 2.51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4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Patients with advanced HIV have</a:t>
            </a:r>
            <a:r>
              <a:rPr lang="en-US" sz="4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2.5 times higher odds of hypertension  compared to others.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14CF3A-9437-2D8F-173D-633D6EEE3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730" y="815248"/>
            <a:ext cx="7796270" cy="604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258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93C68-B04E-33FE-B13B-148F0C30B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6096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Evaluation for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20C26-1ED5-ED49-F867-C1EA0AB8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152" y="804231"/>
            <a:ext cx="4682168" cy="5805889"/>
          </a:xfrm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metrics for binary outcomes: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Sensitivity (Recall)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Specificity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AUC–ROC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Medical screening prioritize high sensitivity to reduce missed cases.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ROC-AUC">
            <a:extLst>
              <a:ext uri="{FF2B5EF4-FFF2-40B4-BE49-F238E27FC236}">
                <a16:creationId xmlns:a16="http://schemas.microsoft.com/office/drawing/2014/main" id="{E9FC34E0-4AFD-4E91-6AC0-DFEE25A9D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320" y="716096"/>
            <a:ext cx="7410680" cy="6141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614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F2EE-FAA9-7958-BF02-A24E81E1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8"/>
            <a:ext cx="12192000" cy="846731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Confounding and Adjustment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5D1C7-79AC-2A3A-9E2E-DC43DF7F4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8298"/>
            <a:ext cx="5552498" cy="6008133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Confounding occurs when a third variable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distorts the relationship between X and Y.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Urban clinics appear associated with higher SBP,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 age explains the difference.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Multivariable regression adjustment.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diagram that displays how confounding works.">
            <a:extLst>
              <a:ext uri="{FF2B5EF4-FFF2-40B4-BE49-F238E27FC236}">
                <a16:creationId xmlns:a16="http://schemas.microsoft.com/office/drawing/2014/main" id="{01867FAF-0FB0-2345-7A77-A6CA1DA21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500" y="848299"/>
            <a:ext cx="6639499" cy="295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A6BDC1DC-E80C-348A-2094-0D9EF2CAB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499" y="3800820"/>
            <a:ext cx="6639499" cy="305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544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5AF25-080F-37FC-B421-3D34A029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1181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as Machine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E3765-9E36-235A-84BB-F6D0FB4C5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323" y="771180"/>
            <a:ext cx="3061771" cy="6086819"/>
          </a:xfrm>
        </p:spPr>
        <p:txBody>
          <a:bodyPr>
            <a:normAutofit fontScale="6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models are machine learning algorithms.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Connections: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 regression → Linear ML model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→ Classification ML model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 networks → Stacked regression layers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Understanding regression enables ML mastery.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205EB628-11F5-C34D-F051-DE0A26CD6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418" y="771179"/>
            <a:ext cx="8666120" cy="6086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8640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5AF25-080F-37FC-B421-3D34A029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1181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as Machine Learning</a:t>
            </a:r>
            <a:endParaRPr lang="en-US" dirty="0"/>
          </a:p>
        </p:txBody>
      </p:sp>
      <p:pic>
        <p:nvPicPr>
          <p:cNvPr id="5122" name="Picture 2" descr="Illustrations of machine learning models. 3A. Linear regression; 3B.... |  Download Scientific Diagram">
            <a:extLst>
              <a:ext uri="{FF2B5EF4-FFF2-40B4-BE49-F238E27FC236}">
                <a16:creationId xmlns:a16="http://schemas.microsoft.com/office/drawing/2014/main" id="{B6AF6C44-94A6-D947-72CD-2DD9EB7E3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771180"/>
            <a:ext cx="12192001" cy="613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0764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6944-E95D-8085-CD14-16E91754F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881348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 Statistical Pitfall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23F1B-6CF6-1FD4-7B12-20BFE738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236" y="881348"/>
            <a:ext cx="4087258" cy="5761823"/>
          </a:xfrm>
        </p:spPr>
        <p:txBody>
          <a:bodyPr>
            <a:normAutofit fontScale="850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Avoid these errors: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leakage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P-hacking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Ignoring confounding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Overfitting models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Statistical rigor protects patient safety</a:t>
            </a:r>
            <a:r>
              <a:rPr lang="en-US" sz="4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model credibility.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p-hacking">
            <a:extLst>
              <a:ext uri="{FF2B5EF4-FFF2-40B4-BE49-F238E27FC236}">
                <a16:creationId xmlns:a16="http://schemas.microsoft.com/office/drawing/2014/main" id="{B275CAAC-D598-B070-B5F1-0CFD920AC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494" y="881348"/>
            <a:ext cx="7950505" cy="5761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443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0284-2676-4A60-E887-AFE70797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9315"/>
          </a:xfrm>
          <a:solidFill>
            <a:schemeClr val="accent2"/>
          </a:solidFill>
        </p:spPr>
        <p:txBody>
          <a:bodyPr/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 Assignment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E5154-F973-4CB4-D566-5D76ACDE2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859316"/>
            <a:ext cx="3668616" cy="5998684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 regression for SBP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for hypertension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evaluation and interpretation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Deliverable: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notebook (.</a:t>
            </a:r>
            <a:r>
              <a:rPr lang="en-US" sz="36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ipynb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82D687A-0445-652C-638D-EE8CBB5F3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617" y="859315"/>
            <a:ext cx="8501570" cy="599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0038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245A1-745C-DC10-726B-D9A8A7FAA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2626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Analysis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3DBD6-BF94-2D1C-1178-55F889418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6266"/>
            <a:ext cx="4109292" cy="603173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marR="0" indent="-7429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Load and clean data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marR="0" indent="-7429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Conduct hypothesis tests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marR="0" indent="-7429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 OLS regression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marR="0" indent="-7429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 logistic regression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marR="0" indent="-7429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Evaluate model performance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5BFA2B0-01AE-5BF7-FD69-49CA56349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292" y="826265"/>
            <a:ext cx="8082708" cy="60317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572266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7A486-324F-CD77-53BC-C11DAA72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Preparing for Week 3 Machine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49BA-87CE-DC5D-555F-24E34542C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81036"/>
            <a:ext cx="12192000" cy="6176964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efore next session: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lab assignment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regression concepts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 train-test split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Install required Python libraries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0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Week 3 focuses on scalable ML pipelines.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6384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97E7-4893-193C-36DD-BFE132DA4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82198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856EA-35F0-B633-9A23-3CB527621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2198"/>
            <a:ext cx="12085504" cy="6075802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 testing guides evidence-based decisions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underpins machine learning algorithms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Statistical literacy enables responsible AI</a:t>
            </a: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Healthcare ML requires precision and ethics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Statistics is the foundation of trustworthy machine learning.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246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349</TotalTime>
  <Words>1192</Words>
  <Application>Microsoft Office PowerPoint</Application>
  <PresentationFormat>Widescreen</PresentationFormat>
  <Paragraphs>255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STATISTICAL FOUNDATIONS FOR MACHINE LEARNING</vt:lpstr>
      <vt:lpstr>Why Statistics Before Machine Learning?</vt:lpstr>
      <vt:lpstr>Learning Objectives</vt:lpstr>
      <vt:lpstr>Dataset Overview</vt:lpstr>
      <vt:lpstr>What is Hypothesis Testing?</vt:lpstr>
      <vt:lpstr>Decision Rule in Hypothesis Testing</vt:lpstr>
      <vt:lpstr>Understanding p-values</vt:lpstr>
      <vt:lpstr>Medical Example of a p-value</vt:lpstr>
      <vt:lpstr>Confidence Interval</vt:lpstr>
      <vt:lpstr>Confidence Interval Example</vt:lpstr>
      <vt:lpstr>Choosing the Right Statistical Test</vt:lpstr>
      <vt:lpstr>PowerPoint Presentation</vt:lpstr>
      <vt:lpstr>Introduction to Regression Analysis</vt:lpstr>
      <vt:lpstr>Ordinary Least Squares (OLS) Regression</vt:lpstr>
      <vt:lpstr>Interpreting OLS Coefficients</vt:lpstr>
      <vt:lpstr>Model Fit in OLS Regression</vt:lpstr>
      <vt:lpstr>OLS Assumptions</vt:lpstr>
      <vt:lpstr>Logistic Regression Analysis</vt:lpstr>
      <vt:lpstr>Logistic Regression</vt:lpstr>
      <vt:lpstr>Logistic Regression Equation</vt:lpstr>
      <vt:lpstr>Interpreting Logistic Regression Results</vt:lpstr>
      <vt:lpstr>Logistic Regression Example</vt:lpstr>
      <vt:lpstr>Model Evaluation for Classification</vt:lpstr>
      <vt:lpstr>Confounding and Adjustment</vt:lpstr>
      <vt:lpstr>Regression as Machine Learning</vt:lpstr>
      <vt:lpstr>Regression as Machine Learning</vt:lpstr>
      <vt:lpstr>Common Statistical Pitfall</vt:lpstr>
      <vt:lpstr>Lab Assignment Overview</vt:lpstr>
      <vt:lpstr>Python Analysis Workflow</vt:lpstr>
      <vt:lpstr>Preparing for Week 3 Machine Learning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FOUNDATIONS FOR MACHINE LEARNING</dc:title>
  <dc:creator>Victor Wandera</dc:creator>
  <cp:lastModifiedBy>Victor Wandera</cp:lastModifiedBy>
  <cp:revision>11</cp:revision>
  <dcterms:created xsi:type="dcterms:W3CDTF">2026-02-05T12:31:50Z</dcterms:created>
  <dcterms:modified xsi:type="dcterms:W3CDTF">2026-02-08T12:14:47Z</dcterms:modified>
</cp:coreProperties>
</file>